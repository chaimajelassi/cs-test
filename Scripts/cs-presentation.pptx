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sldIdLst>
    <p:sldId id="257" r:id="rId2"/>
    <p:sldId id="258" r:id="rId3"/>
    <p:sldId id="283" r:id="rId4"/>
    <p:sldId id="284" r:id="rId5"/>
    <p:sldId id="311" r:id="rId6"/>
    <p:sldId id="312" r:id="rId7"/>
    <p:sldId id="289" r:id="rId8"/>
    <p:sldId id="300" r:id="rId9"/>
    <p:sldId id="305" r:id="rId10"/>
    <p:sldId id="294" r:id="rId11"/>
    <p:sldId id="306" r:id="rId12"/>
    <p:sldId id="298" r:id="rId13"/>
    <p:sldId id="308" r:id="rId14"/>
    <p:sldId id="299" r:id="rId15"/>
    <p:sldId id="309" r:id="rId16"/>
    <p:sldId id="288" r:id="rId17"/>
    <p:sldId id="263" r:id="rId18"/>
    <p:sldId id="285" r:id="rId19"/>
    <p:sldId id="310" r:id="rId20"/>
    <p:sldId id="302" r:id="rId21"/>
    <p:sldId id="304" r:id="rId22"/>
    <p:sldId id="303" r:id="rId23"/>
    <p:sldId id="286" r:id="rId24"/>
    <p:sldId id="287" r:id="rId25"/>
    <p:sldId id="26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BD8"/>
    <a:srgbClr val="8335E5"/>
    <a:srgbClr val="6B8DE1"/>
    <a:srgbClr val="6C92E1"/>
    <a:srgbClr val="6313DC"/>
    <a:srgbClr val="1E3ADA"/>
    <a:srgbClr val="030553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136" autoAdjust="0"/>
  </p:normalViewPr>
  <p:slideViewPr>
    <p:cSldViewPr snapToGrid="0" showGuides="1">
      <p:cViewPr varScale="1">
        <p:scale>
          <a:sx n="96" d="100"/>
          <a:sy n="96" d="100"/>
        </p:scale>
        <p:origin x="1092" y="78"/>
      </p:cViewPr>
      <p:guideLst>
        <p:guide orient="horz" pos="2064"/>
        <p:guide pos="3840"/>
        <p:guide pos="456"/>
        <p:guide pos="72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9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For the </a:t>
            </a:r>
            <a:r>
              <a:rPr lang="fr-FR" dirty="0" err="1"/>
              <a:t>implementation</a:t>
            </a:r>
            <a:r>
              <a:rPr lang="fr-FR" dirty="0"/>
              <a:t> of </a:t>
            </a:r>
            <a:r>
              <a:rPr lang="fr-FR" dirty="0" err="1"/>
              <a:t>ths</a:t>
            </a:r>
            <a:r>
              <a:rPr lang="fr-FR" dirty="0"/>
              <a:t> test I </a:t>
            </a:r>
            <a:r>
              <a:rPr lang="fr-FR" dirty="0" err="1"/>
              <a:t>used</a:t>
            </a:r>
            <a:r>
              <a:rPr lang="fr-FR" dirty="0"/>
              <a:t> SQL  FOR THE DATA INTEGRATION AND TRANSFORMATION </a:t>
            </a:r>
            <a:br>
              <a:rPr lang="fr-FR" dirty="0"/>
            </a:br>
            <a:r>
              <a:rPr lang="fr-FR" dirty="0"/>
              <a:t>POWERBI DESKTOP FOR THE REPORTING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AutoNum type="arabicPeriod"/>
            </a:pPr>
            <a:r>
              <a:rPr lang="en-US" dirty="0"/>
              <a:t>I worked only with customers who have a contract status = "</a:t>
            </a:r>
            <a:r>
              <a:rPr lang="en-US" dirty="0" err="1"/>
              <a:t>renewed_or_still_active</a:t>
            </a:r>
            <a:r>
              <a:rPr lang="en-US" dirty="0"/>
              <a:t>".</a:t>
            </a:r>
          </a:p>
          <a:p>
            <a:pPr marL="228600" indent="-228600" algn="l">
              <a:buAutoNum type="arabicPeriod"/>
            </a:pPr>
            <a:r>
              <a:rPr lang="en-US" dirty="0"/>
              <a:t> 2. The product usage Tab collects the activity of customers per month. ( several lines per customer ) </a:t>
            </a:r>
          </a:p>
          <a:p>
            <a:pPr marL="228600" indent="-228600" algn="l">
              <a:buAutoNum type="arabicPeriod"/>
            </a:pPr>
            <a:r>
              <a:rPr lang="en-US" dirty="0"/>
              <a:t>3. The </a:t>
            </a:r>
            <a:r>
              <a:rPr lang="en-US" dirty="0" err="1"/>
              <a:t>cetifications</a:t>
            </a:r>
            <a:r>
              <a:rPr lang="en-US" dirty="0"/>
              <a:t> Tab collects data about the certifications taken by customers. ( several lines per customer ) </a:t>
            </a:r>
          </a:p>
          <a:p>
            <a:pPr marL="228600" indent="-228600" algn="l">
              <a:buAutoNum type="arabicPeriod"/>
            </a:pPr>
            <a:r>
              <a:rPr lang="en-US" dirty="0"/>
              <a:t>4. The net promoter score Tab collects data about the ratings of the product by customers. ( several lines per customer )</a:t>
            </a:r>
          </a:p>
          <a:p>
            <a:pPr marL="228600" indent="-228600" algn="l">
              <a:buAutoNum type="arabicPeriod"/>
            </a:pPr>
            <a:r>
              <a:rPr lang="en-US" dirty="0"/>
              <a:t> 5. The support tickets Tab collects data about the tickets opened by customers. ( several lines per customer )</a:t>
            </a:r>
          </a:p>
          <a:p>
            <a:pPr marL="228600" indent="-228600" algn="l">
              <a:buAutoNum type="arabicPeriod"/>
            </a:pPr>
            <a:r>
              <a:rPr lang="en-US" dirty="0"/>
              <a:t> 6. For 2,3,4,and 5, I processed data and got a line per customer as an output. 7. Categorical Features selected were converted to numerical. </a:t>
            </a:r>
            <a:endParaRPr lang="en-US" b="1" i="0" dirty="0">
              <a:solidFill>
                <a:srgbClr val="24292E"/>
              </a:solidFill>
              <a:effectLst/>
              <a:latin typeface="-apple-system"/>
            </a:endParaRPr>
          </a:p>
          <a:p>
            <a:br>
              <a:rPr lang="en-US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41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AutoNum type="arabicPeriod"/>
            </a:pPr>
            <a:r>
              <a:rPr lang="en-US" dirty="0"/>
              <a:t>I worked only with customers who have a contract status = "</a:t>
            </a:r>
            <a:r>
              <a:rPr lang="en-US" dirty="0" err="1"/>
              <a:t>renewed_or_still_active</a:t>
            </a:r>
            <a:r>
              <a:rPr lang="en-US" dirty="0"/>
              <a:t>".</a:t>
            </a:r>
          </a:p>
          <a:p>
            <a:pPr marL="228600" indent="-228600" algn="l">
              <a:buAutoNum type="arabicPeriod"/>
            </a:pPr>
            <a:r>
              <a:rPr lang="en-US" dirty="0"/>
              <a:t> 2. The product usage Tab collects the activity of customers per month. ( several lines per customer ) </a:t>
            </a:r>
          </a:p>
          <a:p>
            <a:pPr marL="228600" indent="-228600" algn="l">
              <a:buAutoNum type="arabicPeriod"/>
            </a:pPr>
            <a:r>
              <a:rPr lang="en-US" dirty="0"/>
              <a:t>3. The </a:t>
            </a:r>
            <a:r>
              <a:rPr lang="en-US" dirty="0" err="1"/>
              <a:t>cetifications</a:t>
            </a:r>
            <a:r>
              <a:rPr lang="en-US" dirty="0"/>
              <a:t> Tab collects data about the certifications taken by customers. ( several lines per customer ) </a:t>
            </a:r>
          </a:p>
          <a:p>
            <a:pPr marL="228600" indent="-228600" algn="l">
              <a:buAutoNum type="arabicPeriod"/>
            </a:pPr>
            <a:r>
              <a:rPr lang="en-US" dirty="0"/>
              <a:t>4. The net promoter score Tab collects data about the ratings of the product by customers. ( several lines per customer )</a:t>
            </a:r>
          </a:p>
          <a:p>
            <a:pPr marL="228600" indent="-228600" algn="l">
              <a:buAutoNum type="arabicPeriod"/>
            </a:pPr>
            <a:r>
              <a:rPr lang="en-US" dirty="0"/>
              <a:t> 5. The support tickets Tab collects data about the tickets opened by customers. ( several lines per customer )</a:t>
            </a:r>
          </a:p>
          <a:p>
            <a:pPr marL="228600" indent="-228600" algn="l">
              <a:buAutoNum type="arabicPeriod"/>
            </a:pPr>
            <a:r>
              <a:rPr lang="en-US" dirty="0"/>
              <a:t> 6. For 2,3,4,and 5, I processed data and got a line per customer as an output. 7. Categorical Features selected were converted to numerical. </a:t>
            </a:r>
            <a:endParaRPr lang="en-US" b="1" i="0" dirty="0">
              <a:solidFill>
                <a:srgbClr val="24292E"/>
              </a:solidFill>
              <a:effectLst/>
              <a:latin typeface="-apple-system"/>
            </a:endParaRPr>
          </a:p>
          <a:p>
            <a:br>
              <a:rPr lang="en-US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2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AutoNum type="arabicPeriod"/>
            </a:pPr>
            <a:r>
              <a:rPr lang="en-US" dirty="0"/>
              <a:t>I worked only with customers who have a contract status = "</a:t>
            </a:r>
            <a:r>
              <a:rPr lang="en-US" dirty="0" err="1"/>
              <a:t>renewed_or_still_active</a:t>
            </a:r>
            <a:r>
              <a:rPr lang="en-US" dirty="0"/>
              <a:t>".</a:t>
            </a:r>
          </a:p>
          <a:p>
            <a:pPr marL="228600" indent="-228600" algn="l">
              <a:buAutoNum type="arabicPeriod"/>
            </a:pPr>
            <a:r>
              <a:rPr lang="en-US" dirty="0"/>
              <a:t> 2. The product usage Tab collects the activity of customers per month. ( several lines per customer ) </a:t>
            </a:r>
          </a:p>
          <a:p>
            <a:pPr marL="228600" indent="-228600" algn="l">
              <a:buAutoNum type="arabicPeriod"/>
            </a:pPr>
            <a:r>
              <a:rPr lang="en-US" dirty="0"/>
              <a:t>3. The </a:t>
            </a:r>
            <a:r>
              <a:rPr lang="en-US" dirty="0" err="1"/>
              <a:t>cetifications</a:t>
            </a:r>
            <a:r>
              <a:rPr lang="en-US" dirty="0"/>
              <a:t> Tab collects data about the certifications taken by customers. ( several lines per customer ) </a:t>
            </a:r>
          </a:p>
          <a:p>
            <a:pPr marL="228600" indent="-228600" algn="l">
              <a:buAutoNum type="arabicPeriod"/>
            </a:pPr>
            <a:r>
              <a:rPr lang="en-US" dirty="0"/>
              <a:t>4. The net promoter score Tab collects data about the ratings of the product by customers. ( several lines per customer )</a:t>
            </a:r>
          </a:p>
          <a:p>
            <a:pPr marL="228600" indent="-228600" algn="l">
              <a:buAutoNum type="arabicPeriod"/>
            </a:pPr>
            <a:r>
              <a:rPr lang="en-US" dirty="0"/>
              <a:t> 5. The support tickets Tab collects data about the tickets opened by customers. ( several lines per customer )</a:t>
            </a:r>
          </a:p>
          <a:p>
            <a:pPr marL="228600" indent="-228600" algn="l">
              <a:buAutoNum type="arabicPeriod"/>
            </a:pPr>
            <a:r>
              <a:rPr lang="en-US" dirty="0"/>
              <a:t> 6. For 2,3,4,and 5, I processed data and got a line per customer as an output. 7. Categorical Features selected were converted to numerical. </a:t>
            </a:r>
            <a:endParaRPr lang="en-US" b="1" i="0" dirty="0">
              <a:solidFill>
                <a:srgbClr val="24292E"/>
              </a:solidFill>
              <a:effectLst/>
              <a:latin typeface="-apple-system"/>
            </a:endParaRPr>
          </a:p>
          <a:p>
            <a:br>
              <a:rPr lang="en-US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13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NB_certifications</a:t>
            </a:r>
            <a:r>
              <a:rPr lang="en-US" dirty="0"/>
              <a:t>] AS [Number of certifications],</a:t>
            </a:r>
          </a:p>
          <a:p>
            <a:r>
              <a:rPr lang="en-US" dirty="0"/>
              <a:t>[</a:t>
            </a:r>
            <a:r>
              <a:rPr lang="en-US" dirty="0" err="1"/>
              <a:t>Final_certification_Scores</a:t>
            </a:r>
            <a:r>
              <a:rPr lang="en-US" dirty="0"/>
              <a:t>],</a:t>
            </a:r>
          </a:p>
          <a:p>
            <a:r>
              <a:rPr lang="en-US" dirty="0"/>
              <a:t>[</a:t>
            </a:r>
            <a:r>
              <a:rPr lang="en-US" dirty="0" err="1"/>
              <a:t>Final_nps_scores</a:t>
            </a:r>
            <a:r>
              <a:rPr lang="en-US" dirty="0"/>
              <a:t>],</a:t>
            </a:r>
          </a:p>
          <a:p>
            <a:r>
              <a:rPr lang="en-US" dirty="0"/>
              <a:t>[</a:t>
            </a:r>
            <a:r>
              <a:rPr lang="en-US" dirty="0" err="1"/>
              <a:t>nb_tickets</a:t>
            </a:r>
            <a:r>
              <a:rPr lang="en-US" dirty="0"/>
              <a:t>] as [Number of Tickets],</a:t>
            </a:r>
          </a:p>
          <a:p>
            <a:r>
              <a:rPr lang="en-US" dirty="0"/>
              <a:t>[</a:t>
            </a:r>
            <a:r>
              <a:rPr lang="en-US" dirty="0" err="1"/>
              <a:t>Final_support_tickets_Scores</a:t>
            </a:r>
            <a:r>
              <a:rPr lang="en-US" dirty="0"/>
              <a:t>] ,</a:t>
            </a:r>
          </a:p>
          <a:p>
            <a:r>
              <a:rPr lang="en-US" dirty="0"/>
              <a:t>[</a:t>
            </a:r>
            <a:r>
              <a:rPr lang="en-US" dirty="0" err="1"/>
              <a:t>Nb_months</a:t>
            </a:r>
            <a:r>
              <a:rPr lang="en-US" dirty="0"/>
              <a:t>] as [Number of activity months],</a:t>
            </a:r>
          </a:p>
          <a:p>
            <a:r>
              <a:rPr lang="en-US" dirty="0" err="1"/>
              <a:t>all_activity_in_days</a:t>
            </a:r>
            <a:r>
              <a:rPr lang="en-US" dirty="0"/>
              <a:t> as [Number days of activity],</a:t>
            </a:r>
          </a:p>
          <a:p>
            <a:r>
              <a:rPr lang="en-US" dirty="0" err="1"/>
              <a:t>Nb_active_users</a:t>
            </a:r>
            <a:r>
              <a:rPr lang="en-US" dirty="0"/>
              <a:t> as [Number of Active Users],</a:t>
            </a:r>
          </a:p>
          <a:p>
            <a:r>
              <a:rPr lang="en-US" dirty="0" err="1"/>
              <a:t>Total_hours</a:t>
            </a:r>
            <a:r>
              <a:rPr lang="en-US" dirty="0"/>
              <a:t> as [Number hours of activity],</a:t>
            </a:r>
          </a:p>
          <a:p>
            <a:r>
              <a:rPr lang="en-US" dirty="0"/>
              <a:t>[</a:t>
            </a:r>
            <a:r>
              <a:rPr lang="en-US" dirty="0" err="1"/>
              <a:t>Final_product_usage_score</a:t>
            </a:r>
            <a:r>
              <a:rPr lang="en-US" dirty="0"/>
              <a:t>],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128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 The net promoter score Tab collects data about the ratings of the product by customers. ( several lines per customer 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0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 The net promoter score Tab collects data about the ratings of the product by customers. ( several lines per customer 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42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747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0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AutoNum type="arabicPeriod"/>
            </a:pPr>
            <a:r>
              <a:rPr lang="en-US" dirty="0"/>
              <a:t>I worked only with customers who have a contract status = "</a:t>
            </a:r>
            <a:r>
              <a:rPr lang="en-US" dirty="0" err="1"/>
              <a:t>renewed_or_still_active</a:t>
            </a:r>
            <a:r>
              <a:rPr lang="en-US" dirty="0"/>
              <a:t>".</a:t>
            </a:r>
          </a:p>
          <a:p>
            <a:pPr marL="228600" indent="-228600" algn="l">
              <a:buAutoNum type="arabicPeriod"/>
            </a:pPr>
            <a:r>
              <a:rPr lang="en-US" dirty="0"/>
              <a:t> 2. The product usage Tab collects the activity of customers per month. ( several lines per customer ) </a:t>
            </a:r>
          </a:p>
          <a:p>
            <a:pPr marL="228600" indent="-228600" algn="l">
              <a:buAutoNum type="arabicPeriod"/>
            </a:pPr>
            <a:r>
              <a:rPr lang="en-US" dirty="0"/>
              <a:t>3. The </a:t>
            </a:r>
            <a:r>
              <a:rPr lang="en-US" dirty="0" err="1"/>
              <a:t>cetifications</a:t>
            </a:r>
            <a:r>
              <a:rPr lang="en-US" dirty="0"/>
              <a:t> Tab collects data about the certifications taken by customers. ( several lines per customer ) </a:t>
            </a:r>
          </a:p>
          <a:p>
            <a:pPr marL="228600" indent="-228600" algn="l">
              <a:buAutoNum type="arabicPeriod"/>
            </a:pPr>
            <a:r>
              <a:rPr lang="en-US" dirty="0"/>
              <a:t>4. The net promoter score Tab collects data about the ratings of the product by customers. ( several lines per customer )</a:t>
            </a:r>
          </a:p>
          <a:p>
            <a:pPr marL="228600" indent="-228600" algn="l">
              <a:buAutoNum type="arabicPeriod"/>
            </a:pPr>
            <a:r>
              <a:rPr lang="en-US" dirty="0"/>
              <a:t> 5. The support tickets Tab collects data about the tickets opened by customers. ( several lines per customer )</a:t>
            </a:r>
          </a:p>
          <a:p>
            <a:pPr marL="228600" indent="-228600" algn="l">
              <a:buAutoNum type="arabicPeriod"/>
            </a:pPr>
            <a:r>
              <a:rPr lang="en-US" dirty="0"/>
              <a:t> 6. For 2,3,4,and 5, I processed data and got a line per customer as an output. 7. Categorical Features selected were converted to numerical. </a:t>
            </a:r>
            <a:endParaRPr lang="en-US" b="1" i="0" dirty="0">
              <a:solidFill>
                <a:srgbClr val="24292E"/>
              </a:solidFill>
              <a:effectLst/>
              <a:latin typeface="-apple-system"/>
            </a:endParaRPr>
          </a:p>
          <a:p>
            <a:br>
              <a:rPr lang="en-US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7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92E"/>
                </a:solidFill>
                <a:effectLst/>
                <a:latin typeface="-apple-system"/>
              </a:rPr>
              <a:t>product usage: 30% from the global CHS Score</a:t>
            </a:r>
            <a:endParaRPr lang="en-US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92E"/>
                </a:solidFill>
                <a:effectLst/>
                <a:latin typeface="-apple-system"/>
              </a:rPr>
              <a:t>net promoter: score 30% from the global CHS Score</a:t>
            </a:r>
            <a:endParaRPr lang="en-US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92E"/>
                </a:solidFill>
                <a:effectLst/>
                <a:latin typeface="-apple-system"/>
              </a:rPr>
              <a:t>satisfaction: 30% from the global CHS Score</a:t>
            </a:r>
            <a:endParaRPr lang="en-US" b="0" i="0" dirty="0">
              <a:solidFill>
                <a:srgbClr val="24292E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92E"/>
                </a:solidFill>
                <a:effectLst/>
                <a:latin typeface="-apple-system"/>
              </a:rPr>
              <a:t>certification: 10% from the global CHS Score</a:t>
            </a:r>
            <a:endParaRPr lang="en-US" b="0" i="0" dirty="0">
              <a:solidFill>
                <a:srgbClr val="24292E"/>
              </a:solidFill>
              <a:effectLst/>
              <a:latin typeface="-apple-system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43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To </a:t>
            </a:r>
            <a:r>
              <a:rPr lang="fr-FR" dirty="0" err="1"/>
              <a:t>validate</a:t>
            </a:r>
            <a:r>
              <a:rPr lang="fr-FR" dirty="0"/>
              <a:t> the CHS score </a:t>
            </a:r>
            <a:r>
              <a:rPr lang="fr-FR" dirty="0" err="1"/>
              <a:t>calculated</a:t>
            </a:r>
            <a:r>
              <a:rPr lang="fr-FR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072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This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etl</a:t>
            </a:r>
            <a:r>
              <a:rPr lang="fr-FR" dirty="0"/>
              <a:t> </a:t>
            </a:r>
            <a:r>
              <a:rPr lang="fr-FR" dirty="0" err="1"/>
              <a:t>schema</a:t>
            </a:r>
            <a:r>
              <a:rPr lang="fr-FR" dirty="0"/>
              <a:t> if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sheet</a:t>
            </a:r>
            <a:r>
              <a:rPr lang="fr-FR" dirty="0"/>
              <a:t> came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diffrent</a:t>
            </a:r>
            <a:r>
              <a:rPr lang="fr-FR" dirty="0"/>
              <a:t> source/</a:t>
            </a:r>
            <a:r>
              <a:rPr lang="fr-FR" dirty="0" err="1"/>
              <a:t>tool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21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Each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unique 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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Adapt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the formula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based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on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that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.</a:t>
            </a:r>
          </a:p>
          <a:p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	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Eg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: if a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did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not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take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any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certification  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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feature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does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not have to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be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included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in the score.</a:t>
            </a:r>
          </a:p>
          <a:p>
            <a:pPr lvl="1"/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Exclude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Final_support_tickets_Scores</a:t>
            </a:r>
            <a:r>
              <a:rPr lang="fr-FR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from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the formula and replace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it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with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NB_tickets</a:t>
            </a:r>
            <a:r>
              <a:rPr lang="fr-FR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to have a more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accurate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score.</a:t>
            </a:r>
          </a:p>
          <a:p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	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Eg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: if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satisfied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with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the application and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he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not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struggling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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will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not open support tickets.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To base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calculation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upon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the 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NB_tickets</a:t>
            </a:r>
            <a:r>
              <a:rPr lang="fr-FR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opened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by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customer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instead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of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his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satisfaction_score</a:t>
            </a:r>
            <a:r>
              <a:rPr lang="fr-FR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.</a:t>
            </a:r>
          </a:p>
          <a:p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Add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new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features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to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calculation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of CHS:</a:t>
            </a:r>
          </a:p>
          <a:p>
            <a:pPr algn="l" fontAlgn="base"/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	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Eg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: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add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external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data to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see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if the </a:t>
            </a:r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C-level execs are users of your solution? I believe that is  a good features to add to the score.</a:t>
            </a:r>
          </a:p>
          <a:p>
            <a:br>
              <a:rPr lang="en-US" sz="1600" dirty="0">
                <a:latin typeface="+mj-lt"/>
              </a:rPr>
            </a:b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latin typeface="+mj-lt"/>
              <a:sym typeface="Wingdings" panose="05000000000000000000" pitchFamily="2" charset="2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74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1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7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1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1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5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01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0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4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0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504344-8563-476C-9EF9-4200B272FDC1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355646" y="2265834"/>
            <a:ext cx="4845708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HEALTH SCORE</a:t>
            </a:r>
            <a:endParaRPr lang="en-US" sz="54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355646" y="5520603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PRESENTED BY : CHAIMA JELASSI</a:t>
            </a:r>
          </a:p>
        </p:txBody>
      </p:sp>
      <p:pic>
        <p:nvPicPr>
          <p:cNvPr id="23" name="Image 22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3C6893FB-1090-4E2F-84F3-EFAAB6E85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54" y="341520"/>
            <a:ext cx="657816" cy="71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1143355" y="763979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OUTLINE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8D4B56-7D6C-4345-912F-B3BA9A014E8B}"/>
              </a:ext>
            </a:extLst>
          </p:cNvPr>
          <p:cNvCxnSpPr/>
          <p:nvPr/>
        </p:nvCxnSpPr>
        <p:spPr>
          <a:xfrm>
            <a:off x="734990" y="439057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57331C-2A24-4352-9B4C-1C1B326F404F}"/>
              </a:ext>
            </a:extLst>
          </p:cNvPr>
          <p:cNvGrpSpPr/>
          <p:nvPr/>
        </p:nvGrpSpPr>
        <p:grpSpPr>
          <a:xfrm>
            <a:off x="518432" y="1743075"/>
            <a:ext cx="4201583" cy="3485521"/>
            <a:chOff x="518433" y="1543788"/>
            <a:chExt cx="4201583" cy="348552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111D787-E830-4638-97B3-205F0A0ABC3F}"/>
                </a:ext>
              </a:extLst>
            </p:cNvPr>
            <p:cNvGrpSpPr/>
            <p:nvPr/>
          </p:nvGrpSpPr>
          <p:grpSpPr>
            <a:xfrm>
              <a:off x="518433" y="1543788"/>
              <a:ext cx="4161118" cy="246221"/>
              <a:chOff x="518433" y="1702865"/>
              <a:chExt cx="4161118" cy="246221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BFCD1AA-E1CA-41D6-8605-56AFEBE4EEE3}"/>
                  </a:ext>
                </a:extLst>
              </p:cNvPr>
              <p:cNvSpPr/>
              <p:nvPr/>
            </p:nvSpPr>
            <p:spPr>
              <a:xfrm>
                <a:off x="518433" y="1705990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101D99-B002-4698-9C7E-C942B9AA2D39}"/>
                  </a:ext>
                </a:extLst>
              </p:cNvPr>
              <p:cNvSpPr/>
              <p:nvPr/>
            </p:nvSpPr>
            <p:spPr>
              <a:xfrm>
                <a:off x="1143356" y="1702865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INTRODUCTION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19246F-8F2D-4FAD-8927-AA34DDAA5DFA}"/>
                </a:ext>
              </a:extLst>
            </p:cNvPr>
            <p:cNvGrpSpPr/>
            <p:nvPr/>
          </p:nvGrpSpPr>
          <p:grpSpPr>
            <a:xfrm>
              <a:off x="518433" y="2500207"/>
              <a:ext cx="4201583" cy="362369"/>
              <a:chOff x="518433" y="2442345"/>
              <a:chExt cx="4201583" cy="362369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4FF47BA-9557-4442-8E2A-74A4F4AAD237}"/>
                  </a:ext>
                </a:extLst>
              </p:cNvPr>
              <p:cNvSpPr/>
              <p:nvPr/>
            </p:nvSpPr>
            <p:spPr>
              <a:xfrm>
                <a:off x="518433" y="2572418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0C2221-E8A7-47E0-B2B2-5A6A32F96791}"/>
                  </a:ext>
                </a:extLst>
              </p:cNvPr>
              <p:cNvSpPr/>
              <p:nvPr/>
            </p:nvSpPr>
            <p:spPr>
              <a:xfrm>
                <a:off x="1183821" y="2442345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endPara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D065A01-39E4-4CC9-9075-3910C66205F5}"/>
                </a:ext>
              </a:extLst>
            </p:cNvPr>
            <p:cNvGrpSpPr/>
            <p:nvPr/>
          </p:nvGrpSpPr>
          <p:grpSpPr>
            <a:xfrm>
              <a:off x="518433" y="3713647"/>
              <a:ext cx="4201583" cy="258261"/>
              <a:chOff x="518433" y="3452771"/>
              <a:chExt cx="4201583" cy="25826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B458D5C-BDF7-4A75-A4E8-B99128DCD84A}"/>
                  </a:ext>
                </a:extLst>
              </p:cNvPr>
              <p:cNvSpPr/>
              <p:nvPr/>
            </p:nvSpPr>
            <p:spPr>
              <a:xfrm>
                <a:off x="518433" y="3452771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A17B45E-57F0-4725-89C0-3CD74A5097A3}"/>
                  </a:ext>
                </a:extLst>
              </p:cNvPr>
              <p:cNvSpPr/>
              <p:nvPr/>
            </p:nvSpPr>
            <p:spPr>
              <a:xfrm>
                <a:off x="1183821" y="3464811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FINDINGS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9D452F-25F9-4A2F-84BD-9A44714884C6}"/>
                </a:ext>
              </a:extLst>
            </p:cNvPr>
            <p:cNvGrpSpPr/>
            <p:nvPr/>
          </p:nvGrpSpPr>
          <p:grpSpPr>
            <a:xfrm>
              <a:off x="518433" y="4666940"/>
              <a:ext cx="4201583" cy="362369"/>
              <a:chOff x="518433" y="4203051"/>
              <a:chExt cx="4201583" cy="362369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64E3D015-D1E6-40C0-B820-5D2B0144652D}"/>
                  </a:ext>
                </a:extLst>
              </p:cNvPr>
              <p:cNvSpPr/>
              <p:nvPr/>
            </p:nvSpPr>
            <p:spPr>
              <a:xfrm>
                <a:off x="518433" y="4333124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87696D-0387-46E9-A420-AD2392161D95}"/>
                  </a:ext>
                </a:extLst>
              </p:cNvPr>
              <p:cNvSpPr/>
              <p:nvPr/>
            </p:nvSpPr>
            <p:spPr>
              <a:xfrm>
                <a:off x="1183821" y="4203051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endPara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E7D1D117-BC5C-430A-9FEB-B231E691511F}"/>
              </a:ext>
            </a:extLst>
          </p:cNvPr>
          <p:cNvSpPr/>
          <p:nvPr/>
        </p:nvSpPr>
        <p:spPr>
          <a:xfrm>
            <a:off x="713852" y="649955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577E8EA-5E95-41C5-8BE8-EE647DE2613A}"/>
              </a:ext>
            </a:extLst>
          </p:cNvPr>
          <p:cNvSpPr/>
          <p:nvPr/>
        </p:nvSpPr>
        <p:spPr>
          <a:xfrm>
            <a:off x="713852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4482071" y="-508000"/>
            <a:ext cx="8739666" cy="8346238"/>
            <a:chOff x="4597682" y="-439156"/>
            <a:chExt cx="7594320" cy="7252450"/>
          </a:xfrm>
        </p:grpSpPr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1" cy="2230988"/>
              <a:chOff x="7676266" y="528897"/>
              <a:chExt cx="1904851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30">
                <a:extLst>
                  <a:ext uri="{FF2B5EF4-FFF2-40B4-BE49-F238E27FC236}">
                    <a16:creationId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7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DDBFA740-1BCC-4BD6-A8EB-F3AFD40DC751}"/>
              </a:ext>
            </a:extLst>
          </p:cNvPr>
          <p:cNvSpPr/>
          <p:nvPr/>
        </p:nvSpPr>
        <p:spPr>
          <a:xfrm>
            <a:off x="511033" y="5964806"/>
            <a:ext cx="443592" cy="23229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76A100-E9F8-4E8F-86D1-7390DCEA13E8}"/>
              </a:ext>
            </a:extLst>
          </p:cNvPr>
          <p:cNvSpPr/>
          <p:nvPr/>
        </p:nvSpPr>
        <p:spPr>
          <a:xfrm>
            <a:off x="1183820" y="5999290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LIMITS &amp; FURTHER AMELIORATIONS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9B35B29-8699-4F4A-A843-AE1C212E777B}"/>
              </a:ext>
            </a:extLst>
          </p:cNvPr>
          <p:cNvSpPr/>
          <p:nvPr/>
        </p:nvSpPr>
        <p:spPr>
          <a:xfrm>
            <a:off x="1183820" y="2839727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302C9D6-4409-4912-9957-E888856C6058}"/>
              </a:ext>
            </a:extLst>
          </p:cNvPr>
          <p:cNvSpPr/>
          <p:nvPr/>
        </p:nvSpPr>
        <p:spPr>
          <a:xfrm>
            <a:off x="1143355" y="5025749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ALTERNATIVE SOLUTION</a:t>
            </a:r>
          </a:p>
        </p:txBody>
      </p:sp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92884" y="247556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8" name="Picture 4" descr="The next frontier of business excellence (a value-driven model)">
            <a:extLst>
              <a:ext uri="{FF2B5EF4-FFF2-40B4-BE49-F238E27FC236}">
                <a16:creationId xmlns:a16="http://schemas.microsoft.com/office/drawing/2014/main" id="{0364CCCB-EF22-4D82-A89C-0067499BF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863" y="1747105"/>
            <a:ext cx="4484274" cy="33637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91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pic>
        <p:nvPicPr>
          <p:cNvPr id="1027" name="Picture 3" descr="Excel Connector: Instantly Transform Excel Files into BI Dashboards">
            <a:extLst>
              <a:ext uri="{FF2B5EF4-FFF2-40B4-BE49-F238E27FC236}">
                <a16:creationId xmlns:a16="http://schemas.microsoft.com/office/drawing/2014/main" id="{3770D3B7-62B7-4651-B35F-2655551C6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40" y="1758185"/>
            <a:ext cx="1579161" cy="74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Excel Connector: Instantly Transform Excel Files into BI Dashboards">
            <a:extLst>
              <a:ext uri="{FF2B5EF4-FFF2-40B4-BE49-F238E27FC236}">
                <a16:creationId xmlns:a16="http://schemas.microsoft.com/office/drawing/2014/main" id="{05E0111A-CB6A-46C6-B184-A5C9966D8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18" y="4394095"/>
            <a:ext cx="1579161" cy="74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 descr="Excel Connector: Instantly Transform Excel Files into BI Dashboards">
            <a:extLst>
              <a:ext uri="{FF2B5EF4-FFF2-40B4-BE49-F238E27FC236}">
                <a16:creationId xmlns:a16="http://schemas.microsoft.com/office/drawing/2014/main" id="{24AA9EA9-76C5-4B22-97E8-A933C98F1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42" y="3085155"/>
            <a:ext cx="1579161" cy="74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Excel Connector: Instantly Transform Excel Files into BI Dashboards">
            <a:extLst>
              <a:ext uri="{FF2B5EF4-FFF2-40B4-BE49-F238E27FC236}">
                <a16:creationId xmlns:a16="http://schemas.microsoft.com/office/drawing/2014/main" id="{301BFBB2-8D2D-4D25-8CA6-5680E93CC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41" y="3743838"/>
            <a:ext cx="1579161" cy="74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 descr="Excel Connector: Instantly Transform Excel Files into BI Dashboards">
            <a:extLst>
              <a:ext uri="{FF2B5EF4-FFF2-40B4-BE49-F238E27FC236}">
                <a16:creationId xmlns:a16="http://schemas.microsoft.com/office/drawing/2014/main" id="{CCD13332-8D73-4585-81E1-4460F355B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04" y="2433322"/>
            <a:ext cx="1579161" cy="74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Excel Connector: Instantly Transform Excel Files into BI Dashboards">
            <a:extLst>
              <a:ext uri="{FF2B5EF4-FFF2-40B4-BE49-F238E27FC236}">
                <a16:creationId xmlns:a16="http://schemas.microsoft.com/office/drawing/2014/main" id="{24E982D0-2C7B-48A5-BAB3-A30296562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80" y="5064288"/>
            <a:ext cx="1579161" cy="74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97F40BA-D354-4BC7-8A34-819AC350BAAF}"/>
              </a:ext>
            </a:extLst>
          </p:cNvPr>
          <p:cNvSpPr/>
          <p:nvPr/>
        </p:nvSpPr>
        <p:spPr>
          <a:xfrm>
            <a:off x="1859447" y="1994518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93740D-FA50-4786-8735-43EA1E01A299}"/>
              </a:ext>
            </a:extLst>
          </p:cNvPr>
          <p:cNvSpPr/>
          <p:nvPr/>
        </p:nvSpPr>
        <p:spPr>
          <a:xfrm>
            <a:off x="1859451" y="2642836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CONTRACTS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7D32C6-4341-41DA-9E9F-06D6FA9277F2}"/>
              </a:ext>
            </a:extLst>
          </p:cNvPr>
          <p:cNvSpPr/>
          <p:nvPr/>
        </p:nvSpPr>
        <p:spPr>
          <a:xfrm>
            <a:off x="1859447" y="3291152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PRODUCT USAGE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459A0D-8016-405A-8B83-96F9DFF13361}"/>
              </a:ext>
            </a:extLst>
          </p:cNvPr>
          <p:cNvSpPr/>
          <p:nvPr/>
        </p:nvSpPr>
        <p:spPr>
          <a:xfrm>
            <a:off x="1859449" y="3909345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CERTIFICATIONS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0F5A87-139D-45E1-B2DD-728EB349E916}"/>
              </a:ext>
            </a:extLst>
          </p:cNvPr>
          <p:cNvSpPr/>
          <p:nvPr/>
        </p:nvSpPr>
        <p:spPr>
          <a:xfrm>
            <a:off x="1859448" y="4573783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NET PROMOTER SCORE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DBE08D-6D0E-4DC7-9020-504F5413C204}"/>
              </a:ext>
            </a:extLst>
          </p:cNvPr>
          <p:cNvSpPr/>
          <p:nvPr/>
        </p:nvSpPr>
        <p:spPr>
          <a:xfrm>
            <a:off x="1859447" y="5243976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SUPPORT TICKETS</a:t>
            </a:r>
          </a:p>
        </p:txBody>
      </p:sp>
    </p:spTree>
    <p:extLst>
      <p:ext uri="{BB962C8B-B14F-4D97-AF65-F5344CB8AC3E}">
        <p14:creationId xmlns:p14="http://schemas.microsoft.com/office/powerpoint/2010/main" val="151674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pic>
        <p:nvPicPr>
          <p:cNvPr id="25" name="Picture 2" descr="Churn Icon at Vectorified.com | Collection of Churn Icon free for personal  use">
            <a:extLst>
              <a:ext uri="{FF2B5EF4-FFF2-40B4-BE49-F238E27FC236}">
                <a16:creationId xmlns:a16="http://schemas.microsoft.com/office/drawing/2014/main" id="{54FFFFCC-D385-4C7F-BAF4-DB2656672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599" y="1635744"/>
            <a:ext cx="1244012" cy="86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6ED807EE-A694-429D-ADEA-2D97DEACC764}"/>
              </a:ext>
            </a:extLst>
          </p:cNvPr>
          <p:cNvSpPr txBox="1"/>
          <p:nvPr/>
        </p:nvSpPr>
        <p:spPr>
          <a:xfrm>
            <a:off x="1356171" y="2002290"/>
            <a:ext cx="6397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Kept customers with contract status &lt;&gt; “</a:t>
            </a:r>
            <a:r>
              <a:rPr lang="en-US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churn</a:t>
            </a:r>
            <a:r>
              <a:rPr lang="en-US" sz="18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“ : </a:t>
            </a:r>
            <a:r>
              <a:rPr lang="en-US" sz="18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535 </a:t>
            </a:r>
            <a:r>
              <a:rPr lang="en-US" sz="18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</a:p>
        </p:txBody>
      </p:sp>
      <p:pic>
        <p:nvPicPr>
          <p:cNvPr id="20" name="Image 19" descr="Une image contenant texte&#10;&#10;Description générée automatiquement">
            <a:extLst>
              <a:ext uri="{FF2B5EF4-FFF2-40B4-BE49-F238E27FC236}">
                <a16:creationId xmlns:a16="http://schemas.microsoft.com/office/drawing/2014/main" id="{48F20C91-FBBD-4729-8471-767600EC6B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3" t="22865" r="15217" b="24480"/>
          <a:stretch/>
        </p:blipFill>
        <p:spPr>
          <a:xfrm>
            <a:off x="3401195" y="3216908"/>
            <a:ext cx="4631634" cy="227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3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860D933-9809-4585-90BC-E1E5F9FA7664}"/>
              </a:ext>
            </a:extLst>
          </p:cNvPr>
          <p:cNvSpPr txBox="1"/>
          <p:nvPr/>
        </p:nvSpPr>
        <p:spPr>
          <a:xfrm>
            <a:off x="1524680" y="192765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Excluded</a:t>
            </a:r>
            <a:r>
              <a:rPr lang="fr-FR" dirty="0"/>
              <a:t> </a:t>
            </a:r>
            <a:r>
              <a:rPr lang="fr-FR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customers</a:t>
            </a:r>
            <a:r>
              <a:rPr lang="fr-FR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with</a:t>
            </a:r>
            <a:r>
              <a:rPr lang="fr-FR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no </a:t>
            </a:r>
            <a:r>
              <a:rPr lang="fr-FR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contratcs</a:t>
            </a:r>
            <a:r>
              <a:rPr lang="fr-FR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 </a:t>
            </a:r>
            <a:r>
              <a:rPr lang="fr-FR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  </a:t>
            </a:r>
            <a:r>
              <a:rPr lang="fr-FR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45</a:t>
            </a:r>
            <a:r>
              <a:rPr lang="fr-FR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  <a:endParaRPr lang="fr-FR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ABE2DE54-58CD-4B68-81CE-25077830F2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6" t="21486" r="8270" b="20159"/>
          <a:stretch/>
        </p:blipFill>
        <p:spPr>
          <a:xfrm>
            <a:off x="914400" y="2890749"/>
            <a:ext cx="10346635" cy="224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74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BC2A172-1C05-4D6F-B5FB-5CEBE6B7E962}"/>
              </a:ext>
            </a:extLst>
          </p:cNvPr>
          <p:cNvGrpSpPr/>
          <p:nvPr/>
        </p:nvGrpSpPr>
        <p:grpSpPr>
          <a:xfrm>
            <a:off x="4761706" y="3083307"/>
            <a:ext cx="2668588" cy="2679700"/>
            <a:chOff x="4832350" y="3127375"/>
            <a:chExt cx="2668588" cy="267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113D-0844-4CD7-B171-8F00F9D68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CBAFF68D-D572-4371-A91E-AC6024B69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C4C649-8470-4879-B490-47F99A11E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D0BE20-D8F3-4E9A-9E7A-BC6FFF63D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E2CD51-2ACF-4F68-863C-840F1804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19F10DD-B9D3-4B3A-8314-9802E27DC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849D18F-42AB-4436-A00E-CCB48479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D8B039-3C85-439E-9B4E-0AE3B0227E37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6C3AB2-1F41-4F9F-A40A-34C6948A2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3D9C9B8-8241-4452-98F4-6F4696E0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04737AB-59A7-4247-842C-6F97799DA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4EE508E-C139-4549-AD46-4E5E82F7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9F122DD-9773-48CA-B36A-41383E8F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FEF4D20-2077-46B3-889D-C36948145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E67FC6E-679C-4B7D-9F05-FF6856EDE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E28299F-82DC-4BAC-A5BB-7B5EA5A95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F1055DB-0FAF-42E9-A9D9-33EEEA5E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3DD8503-AB72-4432-BEC9-FC488705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34A953-9B6C-444B-B25F-6DF0B880B296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981B24C-CD45-4505-87DD-EBA799A608A0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5F849CF-BB96-4670-91B9-CF85441BB33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163EC3B-1C70-4943-88AE-C995F6AF3D2D}"/>
              </a:ext>
            </a:extLst>
          </p:cNvPr>
          <p:cNvGrpSpPr/>
          <p:nvPr/>
        </p:nvGrpSpPr>
        <p:grpSpPr>
          <a:xfrm>
            <a:off x="2095412" y="1846644"/>
            <a:ext cx="2242533" cy="1271588"/>
            <a:chOff x="5781290" y="1307170"/>
            <a:chExt cx="2242533" cy="1271588"/>
          </a:xfrm>
        </p:grpSpPr>
        <p:sp>
          <p:nvSpPr>
            <p:cNvPr id="34" name="Oval 26">
              <a:extLst>
                <a:ext uri="{FF2B5EF4-FFF2-40B4-BE49-F238E27FC236}">
                  <a16:creationId xmlns:a16="http://schemas.microsoft.com/office/drawing/2014/main" id="{BAB1D2D2-1913-4FAF-8141-A2217D47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0648" y="1307170"/>
              <a:ext cx="1273175" cy="127158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14E63ABA-A2BE-460E-AEC1-558B63A0D598}"/>
                </a:ext>
              </a:extLst>
            </p:cNvPr>
            <p:cNvGrpSpPr/>
            <p:nvPr/>
          </p:nvGrpSpPr>
          <p:grpSpPr>
            <a:xfrm>
              <a:off x="5781290" y="1919215"/>
              <a:ext cx="545597" cy="324828"/>
              <a:chOff x="2686050" y="3074988"/>
              <a:chExt cx="307975" cy="166688"/>
            </a:xfrm>
          </p:grpSpPr>
          <p:sp>
            <p:nvSpPr>
              <p:cNvPr id="157" name="Freeform 312">
                <a:extLst>
                  <a:ext uri="{FF2B5EF4-FFF2-40B4-BE49-F238E27FC236}">
                    <a16:creationId xmlns:a16="http://schemas.microsoft.com/office/drawing/2014/main" id="{210EC1C6-3182-40F6-869F-33B0ABF2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8" name="Oval 313">
                <a:extLst>
                  <a:ext uri="{FF2B5EF4-FFF2-40B4-BE49-F238E27FC236}">
                    <a16:creationId xmlns:a16="http://schemas.microsoft.com/office/drawing/2014/main" id="{168ACDC4-22F5-4D4B-A783-44D3655B8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64" name="Freeform 319">
                <a:extLst>
                  <a:ext uri="{FF2B5EF4-FFF2-40B4-BE49-F238E27FC236}">
                    <a16:creationId xmlns:a16="http://schemas.microsoft.com/office/drawing/2014/main" id="{E441EEB4-0ED1-401E-BCE2-44490D08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14F9816-D761-44CD-80AC-A13A6A2BF4F4}"/>
              </a:ext>
            </a:extLst>
          </p:cNvPr>
          <p:cNvGrpSpPr/>
          <p:nvPr/>
        </p:nvGrpSpPr>
        <p:grpSpPr>
          <a:xfrm>
            <a:off x="2892834" y="3248417"/>
            <a:ext cx="584970" cy="615624"/>
            <a:chOff x="4127500" y="2909888"/>
            <a:chExt cx="330200" cy="315913"/>
          </a:xfrm>
        </p:grpSpPr>
        <p:sp>
          <p:nvSpPr>
            <p:cNvPr id="182" name="Oval 268">
              <a:extLst>
                <a:ext uri="{FF2B5EF4-FFF2-40B4-BE49-F238E27FC236}">
                  <a16:creationId xmlns:a16="http://schemas.microsoft.com/office/drawing/2014/main" id="{8D0C8D9D-E9ED-445E-B175-12C0160A5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725" y="3060701"/>
              <a:ext cx="76200" cy="74613"/>
            </a:xfrm>
            <a:prstGeom prst="ellipse">
              <a:avLst/>
            </a:pr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3" name="Freeform 269">
              <a:extLst>
                <a:ext uri="{FF2B5EF4-FFF2-40B4-BE49-F238E27FC236}">
                  <a16:creationId xmlns:a16="http://schemas.microsoft.com/office/drawing/2014/main" id="{86759DBE-9B84-4D15-8B20-34E76E5F5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0" y="3135313"/>
              <a:ext cx="109538" cy="60325"/>
            </a:xfrm>
            <a:custGeom>
              <a:avLst/>
              <a:gdLst>
                <a:gd name="T0" fmla="*/ 22 w 29"/>
                <a:gd name="T1" fmla="*/ 16 h 16"/>
                <a:gd name="T2" fmla="*/ 0 w 29"/>
                <a:gd name="T3" fmla="*/ 16 h 16"/>
                <a:gd name="T4" fmla="*/ 16 w 29"/>
                <a:gd name="T5" fmla="*/ 0 h 16"/>
                <a:gd name="T6" fmla="*/ 29 w 29"/>
                <a:gd name="T7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16">
                  <a:moveTo>
                    <a:pt x="22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1" y="0"/>
                    <a:pt x="26" y="3"/>
                    <a:pt x="29" y="7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4" name="Oval 270">
              <a:extLst>
                <a:ext uri="{FF2B5EF4-FFF2-40B4-BE49-F238E27FC236}">
                  <a16:creationId xmlns:a16="http://schemas.microsoft.com/office/drawing/2014/main" id="{0524A632-17BB-4AA9-A49C-41BE94905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863" y="3060701"/>
              <a:ext cx="74613" cy="74613"/>
            </a:xfrm>
            <a:prstGeom prst="ellipse">
              <a:avLst/>
            </a:pr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5" name="Freeform 271">
              <a:extLst>
                <a:ext uri="{FF2B5EF4-FFF2-40B4-BE49-F238E27FC236}">
                  <a16:creationId xmlns:a16="http://schemas.microsoft.com/office/drawing/2014/main" id="{D502FFDD-28F4-4AA4-B259-B57867A0C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3135313"/>
              <a:ext cx="107950" cy="60325"/>
            </a:xfrm>
            <a:custGeom>
              <a:avLst/>
              <a:gdLst>
                <a:gd name="T0" fmla="*/ 0 w 29"/>
                <a:gd name="T1" fmla="*/ 7 h 16"/>
                <a:gd name="T2" fmla="*/ 13 w 29"/>
                <a:gd name="T3" fmla="*/ 0 h 16"/>
                <a:gd name="T4" fmla="*/ 29 w 29"/>
                <a:gd name="T5" fmla="*/ 16 h 16"/>
                <a:gd name="T6" fmla="*/ 7 w 29"/>
                <a:gd name="T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16">
                  <a:moveTo>
                    <a:pt x="0" y="7"/>
                  </a:moveTo>
                  <a:cubicBezTo>
                    <a:pt x="3" y="3"/>
                    <a:pt x="8" y="0"/>
                    <a:pt x="13" y="0"/>
                  </a:cubicBezTo>
                  <a:cubicBezTo>
                    <a:pt x="22" y="0"/>
                    <a:pt x="29" y="7"/>
                    <a:pt x="29" y="16"/>
                  </a:cubicBezTo>
                  <a:cubicBezTo>
                    <a:pt x="7" y="16"/>
                    <a:pt x="7" y="16"/>
                    <a:pt x="7" y="16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6" name="Oval 272">
              <a:extLst>
                <a:ext uri="{FF2B5EF4-FFF2-40B4-BE49-F238E27FC236}">
                  <a16:creationId xmlns:a16="http://schemas.microsoft.com/office/drawing/2014/main" id="{074B1DAE-77A3-4CE2-BB5F-6E109DFB6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0213" y="3030538"/>
              <a:ext cx="104775" cy="109538"/>
            </a:xfrm>
            <a:prstGeom prst="ellipse">
              <a:avLst/>
            </a:pr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7" name="Freeform 273">
              <a:extLst>
                <a:ext uri="{FF2B5EF4-FFF2-40B4-BE49-F238E27FC236}">
                  <a16:creationId xmlns:a16="http://schemas.microsoft.com/office/drawing/2014/main" id="{6F4FD849-C2CF-4E95-92A3-DF3CD12C6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813" y="2986088"/>
              <a:ext cx="157163" cy="36513"/>
            </a:xfrm>
            <a:custGeom>
              <a:avLst/>
              <a:gdLst>
                <a:gd name="T0" fmla="*/ 0 w 42"/>
                <a:gd name="T1" fmla="*/ 10 h 10"/>
                <a:gd name="T2" fmla="*/ 21 w 42"/>
                <a:gd name="T3" fmla="*/ 0 h 10"/>
                <a:gd name="T4" fmla="*/ 42 w 42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10">
                  <a:moveTo>
                    <a:pt x="0" y="10"/>
                  </a:moveTo>
                  <a:cubicBezTo>
                    <a:pt x="5" y="4"/>
                    <a:pt x="13" y="0"/>
                    <a:pt x="21" y="0"/>
                  </a:cubicBezTo>
                  <a:cubicBezTo>
                    <a:pt x="29" y="0"/>
                    <a:pt x="37" y="4"/>
                    <a:pt x="42" y="1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8" name="Freeform 274">
              <a:extLst>
                <a:ext uri="{FF2B5EF4-FFF2-40B4-BE49-F238E27FC236}">
                  <a16:creationId xmlns:a16="http://schemas.microsoft.com/office/drawing/2014/main" id="{E95CA879-26B6-4158-84CA-E13BF1DBB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825" y="2947988"/>
              <a:ext cx="211138" cy="49213"/>
            </a:xfrm>
            <a:custGeom>
              <a:avLst/>
              <a:gdLst>
                <a:gd name="T0" fmla="*/ 0 w 56"/>
                <a:gd name="T1" fmla="*/ 13 h 13"/>
                <a:gd name="T2" fmla="*/ 28 w 56"/>
                <a:gd name="T3" fmla="*/ 0 h 13"/>
                <a:gd name="T4" fmla="*/ 56 w 56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13">
                  <a:moveTo>
                    <a:pt x="0" y="13"/>
                  </a:moveTo>
                  <a:cubicBezTo>
                    <a:pt x="7" y="5"/>
                    <a:pt x="17" y="0"/>
                    <a:pt x="28" y="0"/>
                  </a:cubicBezTo>
                  <a:cubicBezTo>
                    <a:pt x="39" y="0"/>
                    <a:pt x="49" y="5"/>
                    <a:pt x="56" y="13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9" name="Freeform 275">
              <a:extLst>
                <a:ext uri="{FF2B5EF4-FFF2-40B4-BE49-F238E27FC236}">
                  <a16:creationId xmlns:a16="http://schemas.microsoft.com/office/drawing/2014/main" id="{E086F5C4-405F-457A-B470-EDF08E80A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663" y="2909888"/>
              <a:ext cx="269875" cy="63500"/>
            </a:xfrm>
            <a:custGeom>
              <a:avLst/>
              <a:gdLst>
                <a:gd name="T0" fmla="*/ 0 w 72"/>
                <a:gd name="T1" fmla="*/ 17 h 17"/>
                <a:gd name="T2" fmla="*/ 36 w 72"/>
                <a:gd name="T3" fmla="*/ 0 h 17"/>
                <a:gd name="T4" fmla="*/ 72 w 72"/>
                <a:gd name="T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17">
                  <a:moveTo>
                    <a:pt x="0" y="17"/>
                  </a:moveTo>
                  <a:cubicBezTo>
                    <a:pt x="8" y="7"/>
                    <a:pt x="21" y="0"/>
                    <a:pt x="36" y="0"/>
                  </a:cubicBezTo>
                  <a:cubicBezTo>
                    <a:pt x="51" y="0"/>
                    <a:pt x="64" y="7"/>
                    <a:pt x="72" y="17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0" name="Freeform 276">
              <a:extLst>
                <a:ext uri="{FF2B5EF4-FFF2-40B4-BE49-F238E27FC236}">
                  <a16:creationId xmlns:a16="http://schemas.microsoft.com/office/drawing/2014/main" id="{8CDF0588-DA3B-4B0D-BDF8-DE1AF3941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875" y="3140076"/>
              <a:ext cx="173038" cy="85725"/>
            </a:xfrm>
            <a:custGeom>
              <a:avLst/>
              <a:gdLst>
                <a:gd name="T0" fmla="*/ 46 w 46"/>
                <a:gd name="T1" fmla="*/ 23 h 23"/>
                <a:gd name="T2" fmla="*/ 0 w 46"/>
                <a:gd name="T3" fmla="*/ 23 h 23"/>
                <a:gd name="T4" fmla="*/ 23 w 46"/>
                <a:gd name="T5" fmla="*/ 0 h 23"/>
                <a:gd name="T6" fmla="*/ 46 w 46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23">
                  <a:moveTo>
                    <a:pt x="46" y="23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F9B9E83-7B40-4A58-B9B6-072ADD8AF2AD}"/>
              </a:ext>
            </a:extLst>
          </p:cNvPr>
          <p:cNvGrpSpPr/>
          <p:nvPr/>
        </p:nvGrpSpPr>
        <p:grpSpPr>
          <a:xfrm>
            <a:off x="3095675" y="1701605"/>
            <a:ext cx="1271588" cy="3711933"/>
            <a:chOff x="2690812" y="1723667"/>
            <a:chExt cx="1271588" cy="3711933"/>
          </a:xfrm>
        </p:grpSpPr>
        <p:sp>
          <p:nvSpPr>
            <p:cNvPr id="32" name="Oval 24">
              <a:extLst>
                <a:ext uri="{FF2B5EF4-FFF2-40B4-BE49-F238E27FC236}">
                  <a16:creationId xmlns:a16="http://schemas.microsoft.com/office/drawing/2014/main" id="{16A34343-0998-42BB-80E4-28FB10F8B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812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Line 262">
              <a:extLst>
                <a:ext uri="{FF2B5EF4-FFF2-40B4-BE49-F238E27FC236}">
                  <a16:creationId xmlns:a16="http://schemas.microsoft.com/office/drawing/2014/main" id="{F8299F61-1975-4EE9-BAB2-3CE9A446F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1636" y="1723667"/>
              <a:ext cx="292484" cy="0"/>
            </a:xfrm>
            <a:prstGeom prst="line">
              <a:avLst/>
            </a:prstGeom>
            <a:noFill/>
            <a:ln w="14288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64F8879-D01A-46C0-82F4-C2574F5186EA}"/>
              </a:ext>
            </a:extLst>
          </p:cNvPr>
          <p:cNvGrpSpPr/>
          <p:nvPr/>
        </p:nvGrpSpPr>
        <p:grpSpPr>
          <a:xfrm>
            <a:off x="9214708" y="4130219"/>
            <a:ext cx="1598853" cy="830386"/>
            <a:chOff x="9695998" y="4157408"/>
            <a:chExt cx="1734002" cy="830386"/>
          </a:xfrm>
        </p:grpSpPr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62109C55-9EBC-4778-80D4-D55D22307915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SUPPORT TICKETS</a:t>
              </a:r>
              <a:endParaRPr lang="en-US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779BDC05-BA31-44EF-B695-331F1F3CEBCA}"/>
                </a:ext>
              </a:extLst>
            </p:cNvPr>
            <p:cNvSpPr/>
            <p:nvPr/>
          </p:nvSpPr>
          <p:spPr>
            <a:xfrm>
              <a:off x="9695998" y="4741573"/>
              <a:ext cx="1729394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fr-FR" sz="1600" i="1" dirty="0" err="1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Satisfaction_score</a:t>
              </a:r>
              <a:endPara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8F9A76E-D468-407E-9575-CEACF4453F35}"/>
              </a:ext>
            </a:extLst>
          </p:cNvPr>
          <p:cNvGrpSpPr/>
          <p:nvPr/>
        </p:nvGrpSpPr>
        <p:grpSpPr>
          <a:xfrm>
            <a:off x="9214708" y="1685580"/>
            <a:ext cx="1598853" cy="592080"/>
            <a:chOff x="9695998" y="4157408"/>
            <a:chExt cx="1734002" cy="592080"/>
          </a:xfrm>
        </p:grpSpPr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3380BC47-47FB-44F3-9E0B-80B83E426031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CERTIFICATIONS</a:t>
              </a:r>
              <a:endParaRPr lang="en-US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9DE6A47E-C4CC-416D-9C28-3273394521C8}"/>
                </a:ext>
              </a:extLst>
            </p:cNvPr>
            <p:cNvSpPr/>
            <p:nvPr/>
          </p:nvSpPr>
          <p:spPr>
            <a:xfrm>
              <a:off x="9695998" y="4503267"/>
              <a:ext cx="1729394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i="1" dirty="0" err="1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certif_level</a:t>
              </a:r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6ADA542D-B2D5-4962-8376-A598260BA8B9}"/>
              </a:ext>
            </a:extLst>
          </p:cNvPr>
          <p:cNvGrpSpPr/>
          <p:nvPr/>
        </p:nvGrpSpPr>
        <p:grpSpPr>
          <a:xfrm>
            <a:off x="788427" y="4113340"/>
            <a:ext cx="1596833" cy="786720"/>
            <a:chOff x="9698189" y="4157408"/>
            <a:chExt cx="1731811" cy="786720"/>
          </a:xfrm>
        </p:grpSpPr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6571B2F-0463-48D1-8CC7-EA6BC8F3FB67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NET PROMOTER SCORE</a:t>
              </a:r>
              <a:endParaRPr lang="en-US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2BA0C149-973C-4722-BF48-FF9DE9B8BC55}"/>
                </a:ext>
              </a:extLst>
            </p:cNvPr>
            <p:cNvSpPr/>
            <p:nvPr/>
          </p:nvSpPr>
          <p:spPr>
            <a:xfrm>
              <a:off x="9698189" y="4697907"/>
              <a:ext cx="1729394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 algn="r">
                <a:buFont typeface="Arial" panose="020B0604020202020204" pitchFamily="34" charset="0"/>
                <a:buChar char="•"/>
              </a:pPr>
              <a:r>
                <a:rPr lang="en-US" sz="1600" i="1" dirty="0" err="1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nps_score</a:t>
              </a:r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A7CACDDB-7004-45D7-8029-4571F3096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989" y="4273387"/>
            <a:ext cx="950192" cy="95019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8D013D79-321A-440A-AF1B-288A3468F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035" y="2102711"/>
            <a:ext cx="764624" cy="764624"/>
          </a:xfrm>
          <a:prstGeom prst="rect">
            <a:avLst/>
          </a:prstGeom>
        </p:spPr>
      </p:pic>
      <p:grpSp>
        <p:nvGrpSpPr>
          <p:cNvPr id="140" name="Group 39">
            <a:extLst>
              <a:ext uri="{FF2B5EF4-FFF2-40B4-BE49-F238E27FC236}">
                <a16:creationId xmlns:a16="http://schemas.microsoft.com/office/drawing/2014/main" id="{E2968742-86EC-49D8-8B2F-74D5242548FD}"/>
              </a:ext>
            </a:extLst>
          </p:cNvPr>
          <p:cNvGrpSpPr/>
          <p:nvPr/>
        </p:nvGrpSpPr>
        <p:grpSpPr>
          <a:xfrm>
            <a:off x="6833565" y="1783246"/>
            <a:ext cx="2242533" cy="1271588"/>
            <a:chOff x="5781290" y="1307170"/>
            <a:chExt cx="2242533" cy="1271588"/>
          </a:xfrm>
        </p:grpSpPr>
        <p:sp>
          <p:nvSpPr>
            <p:cNvPr id="141" name="Oval 26">
              <a:extLst>
                <a:ext uri="{FF2B5EF4-FFF2-40B4-BE49-F238E27FC236}">
                  <a16:creationId xmlns:a16="http://schemas.microsoft.com/office/drawing/2014/main" id="{7534D76E-6C72-4684-965C-30F91110E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0648" y="1307170"/>
              <a:ext cx="1273175" cy="127158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2" name="Group 152">
              <a:extLst>
                <a:ext uri="{FF2B5EF4-FFF2-40B4-BE49-F238E27FC236}">
                  <a16:creationId xmlns:a16="http://schemas.microsoft.com/office/drawing/2014/main" id="{095E2CEC-6837-4386-9A3B-0E33577AF94D}"/>
                </a:ext>
              </a:extLst>
            </p:cNvPr>
            <p:cNvGrpSpPr/>
            <p:nvPr/>
          </p:nvGrpSpPr>
          <p:grpSpPr>
            <a:xfrm>
              <a:off x="5781290" y="1919215"/>
              <a:ext cx="545597" cy="324828"/>
              <a:chOff x="2686050" y="3074988"/>
              <a:chExt cx="307975" cy="166688"/>
            </a:xfrm>
          </p:grpSpPr>
          <p:sp>
            <p:nvSpPr>
              <p:cNvPr id="143" name="Freeform 312">
                <a:extLst>
                  <a:ext uri="{FF2B5EF4-FFF2-40B4-BE49-F238E27FC236}">
                    <a16:creationId xmlns:a16="http://schemas.microsoft.com/office/drawing/2014/main" id="{1C152A6A-4A10-453B-A964-9938DD798F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" name="Oval 313">
                <a:extLst>
                  <a:ext uri="{FF2B5EF4-FFF2-40B4-BE49-F238E27FC236}">
                    <a16:creationId xmlns:a16="http://schemas.microsoft.com/office/drawing/2014/main" id="{AAE90FA9-A943-4767-8DE2-A4D25786D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1" name="Freeform 319">
                <a:extLst>
                  <a:ext uri="{FF2B5EF4-FFF2-40B4-BE49-F238E27FC236}">
                    <a16:creationId xmlns:a16="http://schemas.microsoft.com/office/drawing/2014/main" id="{D94E938B-4E16-4682-8051-CC1D2273AE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grpSp>
        <p:nvGrpSpPr>
          <p:cNvPr id="229" name="Group 152">
            <a:extLst>
              <a:ext uri="{FF2B5EF4-FFF2-40B4-BE49-F238E27FC236}">
                <a16:creationId xmlns:a16="http://schemas.microsoft.com/office/drawing/2014/main" id="{666DFDBE-98D4-47BA-905E-ED6F66AEA50C}"/>
              </a:ext>
            </a:extLst>
          </p:cNvPr>
          <p:cNvGrpSpPr/>
          <p:nvPr/>
        </p:nvGrpSpPr>
        <p:grpSpPr>
          <a:xfrm>
            <a:off x="6958806" y="4918930"/>
            <a:ext cx="545597" cy="219646"/>
            <a:chOff x="2686050" y="3128963"/>
            <a:chExt cx="307975" cy="112713"/>
          </a:xfrm>
        </p:grpSpPr>
        <p:sp>
          <p:nvSpPr>
            <p:cNvPr id="230" name="Freeform 312">
              <a:extLst>
                <a:ext uri="{FF2B5EF4-FFF2-40B4-BE49-F238E27FC236}">
                  <a16:creationId xmlns:a16="http://schemas.microsoft.com/office/drawing/2014/main" id="{2A9D5A01-0F5A-4EEA-8993-EDD5DC7C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050" y="3187701"/>
              <a:ext cx="104775" cy="53975"/>
            </a:xfrm>
            <a:custGeom>
              <a:avLst/>
              <a:gdLst>
                <a:gd name="T0" fmla="*/ 28 w 28"/>
                <a:gd name="T1" fmla="*/ 14 h 14"/>
                <a:gd name="T2" fmla="*/ 0 w 28"/>
                <a:gd name="T3" fmla="*/ 14 h 14"/>
                <a:gd name="T4" fmla="*/ 14 w 28"/>
                <a:gd name="T5" fmla="*/ 0 h 14"/>
                <a:gd name="T6" fmla="*/ 28 w 28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4">
                  <a:moveTo>
                    <a:pt x="28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lose/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31" name="Oval 313">
              <a:extLst>
                <a:ext uri="{FF2B5EF4-FFF2-40B4-BE49-F238E27FC236}">
                  <a16:creationId xmlns:a16="http://schemas.microsoft.com/office/drawing/2014/main" id="{DA22076B-2F8B-49D9-949D-471430FBF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700" y="3128963"/>
              <a:ext cx="60325" cy="58738"/>
            </a:xfrm>
            <a:prstGeom prst="ellipse">
              <a:avLst/>
            </a:pr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39" name="Oval 26">
            <a:extLst>
              <a:ext uri="{FF2B5EF4-FFF2-40B4-BE49-F238E27FC236}">
                <a16:creationId xmlns:a16="http://schemas.microsoft.com/office/drawing/2014/main" id="{796A1799-4DF2-4344-8DCE-C2FC5B778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923" y="4057093"/>
            <a:ext cx="1273175" cy="1271588"/>
          </a:xfrm>
          <a:prstGeom prst="ellipse">
            <a:avLst/>
          </a:prstGeom>
          <a:gradFill>
            <a:gsLst>
              <a:gs pos="0">
                <a:srgbClr val="7CEFD8"/>
              </a:gs>
              <a:gs pos="50000">
                <a:srgbClr val="6672E4"/>
              </a:gs>
              <a:gs pos="100000">
                <a:srgbClr val="882BE5"/>
              </a:gs>
            </a:gsLst>
            <a:lin ang="7800000" scaled="0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41" name="Group 44">
            <a:extLst>
              <a:ext uri="{FF2B5EF4-FFF2-40B4-BE49-F238E27FC236}">
                <a16:creationId xmlns:a16="http://schemas.microsoft.com/office/drawing/2014/main" id="{B29F07E6-2CF1-4A6C-9913-D34473D98F8D}"/>
              </a:ext>
            </a:extLst>
          </p:cNvPr>
          <p:cNvGrpSpPr/>
          <p:nvPr/>
        </p:nvGrpSpPr>
        <p:grpSpPr>
          <a:xfrm>
            <a:off x="1255844" y="1910535"/>
            <a:ext cx="1624716" cy="834592"/>
            <a:chOff x="1427303" y="2203556"/>
            <a:chExt cx="1624716" cy="834592"/>
          </a:xfrm>
        </p:grpSpPr>
        <p:sp>
          <p:nvSpPr>
            <p:cNvPr id="242" name="TextBox 339">
              <a:extLst>
                <a:ext uri="{FF2B5EF4-FFF2-40B4-BE49-F238E27FC236}">
                  <a16:creationId xmlns:a16="http://schemas.microsoft.com/office/drawing/2014/main" id="{2578F5C9-6867-4A1C-B64A-E98C0642E24E}"/>
                </a:ext>
              </a:extLst>
            </p:cNvPr>
            <p:cNvSpPr txBox="1"/>
            <p:nvPr/>
          </p:nvSpPr>
          <p:spPr>
            <a:xfrm>
              <a:off x="1427303" y="2203556"/>
              <a:ext cx="159460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PRODUCT USAGE</a:t>
              </a:r>
              <a:endParaRPr lang="en-US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3A951DD0-D84A-43DA-9E0F-6D3E8695BA96}"/>
                </a:ext>
              </a:extLst>
            </p:cNvPr>
            <p:cNvSpPr/>
            <p:nvPr/>
          </p:nvSpPr>
          <p:spPr>
            <a:xfrm>
              <a:off x="1457415" y="2791927"/>
              <a:ext cx="1594604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pic>
        <p:nvPicPr>
          <p:cNvPr id="28" name="Image 27">
            <a:extLst>
              <a:ext uri="{FF2B5EF4-FFF2-40B4-BE49-F238E27FC236}">
                <a16:creationId xmlns:a16="http://schemas.microsoft.com/office/drawing/2014/main" id="{EC469D06-E5BB-41A3-B94C-6A23FED84A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058" y="4340588"/>
            <a:ext cx="829094" cy="65277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4F42E1B9-2FB2-413F-BF04-AB0ADE832D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058" y="2019102"/>
            <a:ext cx="779942" cy="779942"/>
          </a:xfrm>
          <a:prstGeom prst="rect">
            <a:avLst/>
          </a:prstGeom>
        </p:spPr>
      </p:pic>
      <p:sp>
        <p:nvSpPr>
          <p:cNvPr id="84" name="ZoneTexte 83">
            <a:extLst>
              <a:ext uri="{FF2B5EF4-FFF2-40B4-BE49-F238E27FC236}">
                <a16:creationId xmlns:a16="http://schemas.microsoft.com/office/drawing/2014/main" id="{C198E02B-9980-4FD1-BBF7-F9C396F056F2}"/>
              </a:ext>
            </a:extLst>
          </p:cNvPr>
          <p:cNvSpPr txBox="1"/>
          <p:nvPr/>
        </p:nvSpPr>
        <p:spPr>
          <a:xfrm>
            <a:off x="1251329" y="2462412"/>
            <a:ext cx="6097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days_of_activity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</a:p>
        </p:txBody>
      </p:sp>
      <p:cxnSp>
        <p:nvCxnSpPr>
          <p:cNvPr id="72" name="Straight Connector 3">
            <a:extLst>
              <a:ext uri="{FF2B5EF4-FFF2-40B4-BE49-F238E27FC236}">
                <a16:creationId xmlns:a16="http://schemas.microsoft.com/office/drawing/2014/main" id="{D22E8E1E-3B8A-46B5-BC9D-1C94707AC09B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1">
            <a:extLst>
              <a:ext uri="{FF2B5EF4-FFF2-40B4-BE49-F238E27FC236}">
                <a16:creationId xmlns:a16="http://schemas.microsoft.com/office/drawing/2014/main" id="{D71B7997-3237-49D5-B0FA-E2889ABCD2C8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75" name="TextBox 339">
            <a:extLst>
              <a:ext uri="{FF2B5EF4-FFF2-40B4-BE49-F238E27FC236}">
                <a16:creationId xmlns:a16="http://schemas.microsoft.com/office/drawing/2014/main" id="{5FD3D7D7-E842-4113-9A32-2367452C6CD4}"/>
              </a:ext>
            </a:extLst>
          </p:cNvPr>
          <p:cNvSpPr txBox="1"/>
          <p:nvPr/>
        </p:nvSpPr>
        <p:spPr>
          <a:xfrm>
            <a:off x="2617920" y="6378987"/>
            <a:ext cx="673232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</a:t>
            </a:r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600" b="1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select for the Customer </a:t>
            </a:r>
            <a:r>
              <a:rPr lang="fr-FR" sz="1600" b="1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Health</a:t>
            </a:r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Score </a:t>
            </a:r>
            <a:r>
              <a:rPr lang="fr-FR" sz="1600" b="1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calculation</a:t>
            </a:r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545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D34D7-03D2-45C1-AFCD-88853B71D0C0}"/>
              </a:ext>
            </a:extLst>
          </p:cNvPr>
          <p:cNvSpPr/>
          <p:nvPr/>
        </p:nvSpPr>
        <p:spPr>
          <a:xfrm>
            <a:off x="688691" y="4006566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PRODUCT USAGE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08938C00-5FEF-4CF9-81D2-E58D9179961F}"/>
              </a:ext>
            </a:extLst>
          </p:cNvPr>
          <p:cNvSpPr/>
          <p:nvPr/>
        </p:nvSpPr>
        <p:spPr>
          <a:xfrm>
            <a:off x="2271386" y="3462448"/>
            <a:ext cx="1077455" cy="1624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1D1FD70-102B-4B54-873C-081D401208A0}"/>
              </a:ext>
            </a:extLst>
          </p:cNvPr>
          <p:cNvSpPr/>
          <p:nvPr/>
        </p:nvSpPr>
        <p:spPr>
          <a:xfrm rot="19268446">
            <a:off x="4442438" y="3127834"/>
            <a:ext cx="968735" cy="146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32F8260B-0532-457A-9D92-7553CC795482}"/>
              </a:ext>
            </a:extLst>
          </p:cNvPr>
          <p:cNvSpPr/>
          <p:nvPr/>
        </p:nvSpPr>
        <p:spPr>
          <a:xfrm>
            <a:off x="4597927" y="3517008"/>
            <a:ext cx="837274" cy="126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2C1E63F7-0A0F-43D3-BC2C-A47E1D8A80DD}"/>
              </a:ext>
            </a:extLst>
          </p:cNvPr>
          <p:cNvSpPr/>
          <p:nvPr/>
        </p:nvSpPr>
        <p:spPr>
          <a:xfrm rot="1618258">
            <a:off x="4537981" y="3844162"/>
            <a:ext cx="836316" cy="126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F38068C-CD3F-4382-97D3-079F276EF217}"/>
              </a:ext>
            </a:extLst>
          </p:cNvPr>
          <p:cNvSpPr txBox="1"/>
          <p:nvPr/>
        </p:nvSpPr>
        <p:spPr>
          <a:xfrm>
            <a:off x="5339996" y="4512847"/>
            <a:ext cx="1512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days_of_activity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30262B80-797F-419B-8E0A-A83655847E7F}"/>
              </a:ext>
            </a:extLst>
          </p:cNvPr>
          <p:cNvSpPr/>
          <p:nvPr/>
        </p:nvSpPr>
        <p:spPr>
          <a:xfrm>
            <a:off x="6161001" y="3516502"/>
            <a:ext cx="922851" cy="13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BDA9015-91C8-411B-A029-E46681134314}"/>
              </a:ext>
            </a:extLst>
          </p:cNvPr>
          <p:cNvSpPr txBox="1"/>
          <p:nvPr/>
        </p:nvSpPr>
        <p:spPr>
          <a:xfrm>
            <a:off x="6868555" y="3754010"/>
            <a:ext cx="2209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Avg_score_per_month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95E41E4-D8E5-417B-AD36-00812841D4E1}"/>
              </a:ext>
            </a:extLst>
          </p:cNvPr>
          <p:cNvSpPr txBox="1"/>
          <p:nvPr/>
        </p:nvSpPr>
        <p:spPr>
          <a:xfrm>
            <a:off x="9363440" y="3399395"/>
            <a:ext cx="26465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Final_product_usage_score</a:t>
            </a:r>
            <a:endParaRPr lang="fr-FR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8" name="TextBox 339">
            <a:extLst>
              <a:ext uri="{FF2B5EF4-FFF2-40B4-BE49-F238E27FC236}">
                <a16:creationId xmlns:a16="http://schemas.microsoft.com/office/drawing/2014/main" id="{C42FAF07-93CB-47CB-B789-29A9FFDB60F9}"/>
              </a:ext>
            </a:extLst>
          </p:cNvPr>
          <p:cNvSpPr txBox="1"/>
          <p:nvPr/>
        </p:nvSpPr>
        <p:spPr>
          <a:xfrm>
            <a:off x="688691" y="1428821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USAGE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179F60C-58D2-4E77-838F-E44C8AA0EE3E}"/>
              </a:ext>
            </a:extLst>
          </p:cNvPr>
          <p:cNvSpPr txBox="1"/>
          <p:nvPr/>
        </p:nvSpPr>
        <p:spPr>
          <a:xfrm>
            <a:off x="3572975" y="3914233"/>
            <a:ext cx="109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</a:p>
        </p:txBody>
      </p:sp>
      <p:pic>
        <p:nvPicPr>
          <p:cNvPr id="1026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ED94808E-0FD1-48EF-84D8-E02B63489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991" y="2618906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2C7441AF-D24C-4DE0-8C79-8263B9358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991" y="3219403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CC57EA2D-DEBB-455B-B8C2-5CBC370E2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383" y="3813633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6214067F-2E6D-4F14-9829-5246B5131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45" y="3200885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D9A67EC-0D9B-426B-B980-D005008E1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956" y="3019304"/>
            <a:ext cx="718645" cy="71864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F29C3B8-F829-4C04-A65E-6496914209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262" y="2897834"/>
            <a:ext cx="457196" cy="457196"/>
          </a:xfrm>
          <a:prstGeom prst="rect">
            <a:avLst/>
          </a:prstGeom>
        </p:spPr>
      </p:pic>
      <p:sp>
        <p:nvSpPr>
          <p:cNvPr id="33" name="Flèche : droite 32">
            <a:extLst>
              <a:ext uri="{FF2B5EF4-FFF2-40B4-BE49-F238E27FC236}">
                <a16:creationId xmlns:a16="http://schemas.microsoft.com/office/drawing/2014/main" id="{A5C298A2-7490-46A5-9F7B-FF983982F65B}"/>
              </a:ext>
            </a:extLst>
          </p:cNvPr>
          <p:cNvSpPr/>
          <p:nvPr/>
        </p:nvSpPr>
        <p:spPr>
          <a:xfrm>
            <a:off x="8251746" y="3480465"/>
            <a:ext cx="922851" cy="13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030964E-FB58-4E2C-AC6B-CAF83FAEE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924" y="3009449"/>
            <a:ext cx="802562" cy="80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725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737A60-1006-4846-863A-12E8D6291F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6" t="21327" r="5648" b="24608"/>
          <a:stretch/>
        </p:blipFill>
        <p:spPr>
          <a:xfrm>
            <a:off x="789667" y="2626646"/>
            <a:ext cx="10612665" cy="1986033"/>
          </a:xfrm>
          <a:prstGeom prst="rect">
            <a:avLst/>
          </a:prstGeom>
        </p:spPr>
      </p:pic>
      <p:sp>
        <p:nvSpPr>
          <p:cNvPr id="25" name="TextBox 339">
            <a:extLst>
              <a:ext uri="{FF2B5EF4-FFF2-40B4-BE49-F238E27FC236}">
                <a16:creationId xmlns:a16="http://schemas.microsoft.com/office/drawing/2014/main" id="{83D7E6C0-14F3-4308-81EE-6E82841D7DC5}"/>
              </a:ext>
            </a:extLst>
          </p:cNvPr>
          <p:cNvSpPr txBox="1"/>
          <p:nvPr/>
        </p:nvSpPr>
        <p:spPr>
          <a:xfrm>
            <a:off x="688691" y="1428821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USAGE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67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D34D7-03D2-45C1-AFCD-88853B71D0C0}"/>
              </a:ext>
            </a:extLst>
          </p:cNvPr>
          <p:cNvSpPr/>
          <p:nvPr/>
        </p:nvSpPr>
        <p:spPr>
          <a:xfrm>
            <a:off x="688691" y="4138176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NET PROMOTER SCORE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08938C00-5FEF-4CF9-81D2-E58D9179961F}"/>
              </a:ext>
            </a:extLst>
          </p:cNvPr>
          <p:cNvSpPr/>
          <p:nvPr/>
        </p:nvSpPr>
        <p:spPr>
          <a:xfrm>
            <a:off x="2271386" y="3594058"/>
            <a:ext cx="1077455" cy="1624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1D1FD70-102B-4B54-873C-081D401208A0}"/>
              </a:ext>
            </a:extLst>
          </p:cNvPr>
          <p:cNvSpPr/>
          <p:nvPr/>
        </p:nvSpPr>
        <p:spPr>
          <a:xfrm rot="19268446">
            <a:off x="4442438" y="3259444"/>
            <a:ext cx="968735" cy="146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32F8260B-0532-457A-9D92-7553CC795482}"/>
              </a:ext>
            </a:extLst>
          </p:cNvPr>
          <p:cNvSpPr/>
          <p:nvPr/>
        </p:nvSpPr>
        <p:spPr>
          <a:xfrm>
            <a:off x="4597927" y="3648618"/>
            <a:ext cx="837274" cy="126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2C1E63F7-0A0F-43D3-BC2C-A47E1D8A80DD}"/>
              </a:ext>
            </a:extLst>
          </p:cNvPr>
          <p:cNvSpPr/>
          <p:nvPr/>
        </p:nvSpPr>
        <p:spPr>
          <a:xfrm rot="1618258">
            <a:off x="4537981" y="3975772"/>
            <a:ext cx="836316" cy="126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F38068C-CD3F-4382-97D3-079F276EF217}"/>
              </a:ext>
            </a:extLst>
          </p:cNvPr>
          <p:cNvSpPr txBox="1"/>
          <p:nvPr/>
        </p:nvSpPr>
        <p:spPr>
          <a:xfrm>
            <a:off x="5356548" y="4642957"/>
            <a:ext cx="1066286" cy="33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Nps_score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30262B80-797F-419B-8E0A-A83655847E7F}"/>
              </a:ext>
            </a:extLst>
          </p:cNvPr>
          <p:cNvSpPr/>
          <p:nvPr/>
        </p:nvSpPr>
        <p:spPr>
          <a:xfrm>
            <a:off x="6161001" y="3648112"/>
            <a:ext cx="922851" cy="13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BDA9015-91C8-411B-A029-E46681134314}"/>
              </a:ext>
            </a:extLst>
          </p:cNvPr>
          <p:cNvSpPr txBox="1"/>
          <p:nvPr/>
        </p:nvSpPr>
        <p:spPr>
          <a:xfrm>
            <a:off x="6868555" y="3885620"/>
            <a:ext cx="16695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Avg_score_nps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95E41E4-D8E5-417B-AD36-00812841D4E1}"/>
              </a:ext>
            </a:extLst>
          </p:cNvPr>
          <p:cNvSpPr txBox="1"/>
          <p:nvPr/>
        </p:nvSpPr>
        <p:spPr>
          <a:xfrm>
            <a:off x="9482710" y="3510236"/>
            <a:ext cx="1588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Final_nps_scores</a:t>
            </a:r>
            <a:endParaRPr lang="fr-FR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8" name="TextBox 339">
            <a:extLst>
              <a:ext uri="{FF2B5EF4-FFF2-40B4-BE49-F238E27FC236}">
                <a16:creationId xmlns:a16="http://schemas.microsoft.com/office/drawing/2014/main" id="{C42FAF07-93CB-47CB-B789-29A9FFDB60F9}"/>
              </a:ext>
            </a:extLst>
          </p:cNvPr>
          <p:cNvSpPr txBox="1"/>
          <p:nvPr/>
        </p:nvSpPr>
        <p:spPr>
          <a:xfrm>
            <a:off x="688691" y="1428821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 PROMOTER SCORE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179F60C-58D2-4E77-838F-E44C8AA0EE3E}"/>
              </a:ext>
            </a:extLst>
          </p:cNvPr>
          <p:cNvSpPr txBox="1"/>
          <p:nvPr/>
        </p:nvSpPr>
        <p:spPr>
          <a:xfrm>
            <a:off x="3572975" y="4045843"/>
            <a:ext cx="109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</a:p>
        </p:txBody>
      </p:sp>
      <p:pic>
        <p:nvPicPr>
          <p:cNvPr id="1026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ED94808E-0FD1-48EF-84D8-E02B63489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991" y="2981870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2C7441AF-D24C-4DE0-8C79-8263B9358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991" y="3351013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CC57EA2D-DEBB-455B-B8C2-5CBC370E2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383" y="3945243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6214067F-2E6D-4F14-9829-5246B5131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45" y="3332495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D9A67EC-0D9B-426B-B980-D005008E1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956" y="3150914"/>
            <a:ext cx="718645" cy="71864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F29C3B8-F829-4C04-A65E-6496914209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262" y="3029444"/>
            <a:ext cx="457196" cy="457196"/>
          </a:xfrm>
          <a:prstGeom prst="rect">
            <a:avLst/>
          </a:prstGeom>
        </p:spPr>
      </p:pic>
      <p:sp>
        <p:nvSpPr>
          <p:cNvPr id="33" name="Flèche : droite 32">
            <a:extLst>
              <a:ext uri="{FF2B5EF4-FFF2-40B4-BE49-F238E27FC236}">
                <a16:creationId xmlns:a16="http://schemas.microsoft.com/office/drawing/2014/main" id="{A5C298A2-7490-46A5-9F7B-FF983982F65B}"/>
              </a:ext>
            </a:extLst>
          </p:cNvPr>
          <p:cNvSpPr/>
          <p:nvPr/>
        </p:nvSpPr>
        <p:spPr>
          <a:xfrm>
            <a:off x="8251746" y="3612075"/>
            <a:ext cx="922851" cy="13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030964E-FB58-4E2C-AC6B-CAF83FAEE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924" y="3141059"/>
            <a:ext cx="802562" cy="80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986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pic>
        <p:nvPicPr>
          <p:cNvPr id="16" name="Image 15" descr="Une image contenant texte&#10;&#10;Description générée automatiquement">
            <a:extLst>
              <a:ext uri="{FF2B5EF4-FFF2-40B4-BE49-F238E27FC236}">
                <a16:creationId xmlns:a16="http://schemas.microsoft.com/office/drawing/2014/main" id="{C74B759E-6758-4721-9113-FE30E0A7B0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2" t="22961" r="6311" b="30867"/>
          <a:stretch/>
        </p:blipFill>
        <p:spPr>
          <a:xfrm>
            <a:off x="1515956" y="2644001"/>
            <a:ext cx="9160087" cy="15699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339">
            <a:extLst>
              <a:ext uri="{FF2B5EF4-FFF2-40B4-BE49-F238E27FC236}">
                <a16:creationId xmlns:a16="http://schemas.microsoft.com/office/drawing/2014/main" id="{66F44336-1AAC-4645-9182-0C40F77D1402}"/>
              </a:ext>
            </a:extLst>
          </p:cNvPr>
          <p:cNvSpPr txBox="1"/>
          <p:nvPr/>
        </p:nvSpPr>
        <p:spPr>
          <a:xfrm>
            <a:off x="688691" y="1428821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 PROMOTER SCORE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39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D34D7-03D2-45C1-AFCD-88853B71D0C0}"/>
              </a:ext>
            </a:extLst>
          </p:cNvPr>
          <p:cNvSpPr/>
          <p:nvPr/>
        </p:nvSpPr>
        <p:spPr>
          <a:xfrm>
            <a:off x="688691" y="3996752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SUPPORT TICKETS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08938C00-5FEF-4CF9-81D2-E58D9179961F}"/>
              </a:ext>
            </a:extLst>
          </p:cNvPr>
          <p:cNvSpPr/>
          <p:nvPr/>
        </p:nvSpPr>
        <p:spPr>
          <a:xfrm>
            <a:off x="2271386" y="3452634"/>
            <a:ext cx="1077455" cy="1624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1D1FD70-102B-4B54-873C-081D401208A0}"/>
              </a:ext>
            </a:extLst>
          </p:cNvPr>
          <p:cNvSpPr/>
          <p:nvPr/>
        </p:nvSpPr>
        <p:spPr>
          <a:xfrm rot="19268446">
            <a:off x="4299217" y="3118020"/>
            <a:ext cx="968735" cy="146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32F8260B-0532-457A-9D92-7553CC795482}"/>
              </a:ext>
            </a:extLst>
          </p:cNvPr>
          <p:cNvSpPr/>
          <p:nvPr/>
        </p:nvSpPr>
        <p:spPr>
          <a:xfrm>
            <a:off x="4454706" y="3507194"/>
            <a:ext cx="837274" cy="126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2C1E63F7-0A0F-43D3-BC2C-A47E1D8A80DD}"/>
              </a:ext>
            </a:extLst>
          </p:cNvPr>
          <p:cNvSpPr/>
          <p:nvPr/>
        </p:nvSpPr>
        <p:spPr>
          <a:xfrm rot="1618258">
            <a:off x="4394760" y="3834348"/>
            <a:ext cx="836316" cy="126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F38068C-CD3F-4382-97D3-079F276EF217}"/>
              </a:ext>
            </a:extLst>
          </p:cNvPr>
          <p:cNvSpPr txBox="1"/>
          <p:nvPr/>
        </p:nvSpPr>
        <p:spPr>
          <a:xfrm>
            <a:off x="4812918" y="4471616"/>
            <a:ext cx="1727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Satisfaction_score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BDA9015-91C8-411B-A029-E46681134314}"/>
              </a:ext>
            </a:extLst>
          </p:cNvPr>
          <p:cNvSpPr txBox="1"/>
          <p:nvPr/>
        </p:nvSpPr>
        <p:spPr>
          <a:xfrm>
            <a:off x="6942674" y="4482157"/>
            <a:ext cx="1763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Satisfaction_Scores</a:t>
            </a:r>
            <a:b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</a:b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_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Numerical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95E41E4-D8E5-417B-AD36-00812841D4E1}"/>
              </a:ext>
            </a:extLst>
          </p:cNvPr>
          <p:cNvSpPr txBox="1"/>
          <p:nvPr/>
        </p:nvSpPr>
        <p:spPr>
          <a:xfrm>
            <a:off x="8970777" y="4444649"/>
            <a:ext cx="1554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Avg_support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_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tickets_scores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8" name="TextBox 339">
            <a:extLst>
              <a:ext uri="{FF2B5EF4-FFF2-40B4-BE49-F238E27FC236}">
                <a16:creationId xmlns:a16="http://schemas.microsoft.com/office/drawing/2014/main" id="{C42FAF07-93CB-47CB-B789-29A9FFDB60F9}"/>
              </a:ext>
            </a:extLst>
          </p:cNvPr>
          <p:cNvSpPr txBox="1"/>
          <p:nvPr/>
        </p:nvSpPr>
        <p:spPr>
          <a:xfrm>
            <a:off x="688691" y="1428821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 TICKETS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179F60C-58D2-4E77-838F-E44C8AA0EE3E}"/>
              </a:ext>
            </a:extLst>
          </p:cNvPr>
          <p:cNvSpPr txBox="1"/>
          <p:nvPr/>
        </p:nvSpPr>
        <p:spPr>
          <a:xfrm>
            <a:off x="3572975" y="3904419"/>
            <a:ext cx="109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</a:p>
        </p:txBody>
      </p:sp>
      <p:pic>
        <p:nvPicPr>
          <p:cNvPr id="1026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ED94808E-0FD1-48EF-84D8-E02B63489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70" y="2609092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2C7441AF-D24C-4DE0-8C79-8263B9358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70" y="3209589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CC57EA2D-DEBB-455B-B8C2-5CBC370E2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162" y="3803819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6214067F-2E6D-4F14-9829-5246B5131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398" y="3208307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D9A67EC-0D9B-426B-B980-D005008E1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956" y="3009490"/>
            <a:ext cx="718645" cy="71864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F29C3B8-F829-4C04-A65E-6496914209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928" y="2792726"/>
            <a:ext cx="457196" cy="457196"/>
          </a:xfrm>
          <a:prstGeom prst="rect">
            <a:avLst/>
          </a:prstGeom>
        </p:spPr>
      </p:pic>
      <p:sp>
        <p:nvSpPr>
          <p:cNvPr id="33" name="Flèche : droite 32">
            <a:extLst>
              <a:ext uri="{FF2B5EF4-FFF2-40B4-BE49-F238E27FC236}">
                <a16:creationId xmlns:a16="http://schemas.microsoft.com/office/drawing/2014/main" id="{A5C298A2-7490-46A5-9F7B-FF983982F65B}"/>
              </a:ext>
            </a:extLst>
          </p:cNvPr>
          <p:cNvSpPr/>
          <p:nvPr/>
        </p:nvSpPr>
        <p:spPr>
          <a:xfrm>
            <a:off x="7699265" y="3475951"/>
            <a:ext cx="922851" cy="13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030964E-FB58-4E2C-AC6B-CAF83FAEE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924" y="2999635"/>
            <a:ext cx="802562" cy="80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A0298897-4CC1-4556-AA91-0AB7ABC35820}"/>
              </a:ext>
            </a:extLst>
          </p:cNvPr>
          <p:cNvSpPr/>
          <p:nvPr/>
        </p:nvSpPr>
        <p:spPr>
          <a:xfrm>
            <a:off x="9791828" y="3460013"/>
            <a:ext cx="949618" cy="1432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20D9B10-6A20-4501-98E3-5858492CD035}"/>
              </a:ext>
            </a:extLst>
          </p:cNvPr>
          <p:cNvSpPr txBox="1"/>
          <p:nvPr/>
        </p:nvSpPr>
        <p:spPr>
          <a:xfrm>
            <a:off x="10869630" y="3302306"/>
            <a:ext cx="14025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Final_support_tickets_Scores</a:t>
            </a:r>
            <a:endParaRPr lang="fr-FR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34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14857112-90C8-4013-8D0A-074C13462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814" y="3132219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lèche : droite 34">
            <a:extLst>
              <a:ext uri="{FF2B5EF4-FFF2-40B4-BE49-F238E27FC236}">
                <a16:creationId xmlns:a16="http://schemas.microsoft.com/office/drawing/2014/main" id="{EB6E144A-0E59-4CA5-A871-89B164EE70B1}"/>
              </a:ext>
            </a:extLst>
          </p:cNvPr>
          <p:cNvSpPr/>
          <p:nvPr/>
        </p:nvSpPr>
        <p:spPr>
          <a:xfrm rot="19268446">
            <a:off x="5949911" y="3127199"/>
            <a:ext cx="968735" cy="146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lèche : droite 35">
            <a:extLst>
              <a:ext uri="{FF2B5EF4-FFF2-40B4-BE49-F238E27FC236}">
                <a16:creationId xmlns:a16="http://schemas.microsoft.com/office/drawing/2014/main" id="{4FA46C5F-2419-483B-AC7D-77B55AB49A9B}"/>
              </a:ext>
            </a:extLst>
          </p:cNvPr>
          <p:cNvSpPr/>
          <p:nvPr/>
        </p:nvSpPr>
        <p:spPr>
          <a:xfrm>
            <a:off x="6105400" y="3516373"/>
            <a:ext cx="837274" cy="126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C8D17C47-2B1A-458E-8F21-92407D999B60}"/>
              </a:ext>
            </a:extLst>
          </p:cNvPr>
          <p:cNvSpPr/>
          <p:nvPr/>
        </p:nvSpPr>
        <p:spPr>
          <a:xfrm rot="1618258">
            <a:off x="6045454" y="3843527"/>
            <a:ext cx="836316" cy="126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9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F60A6E96-E390-48D8-ABC4-D8290DE16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353" y="2601559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4FD499AB-C1AA-4FE7-83D1-801E73AE7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007" y="3817434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CE18AD6-A340-4E95-8ED7-912F5A357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79" y="2219507"/>
            <a:ext cx="375217" cy="37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098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28" name="TextBox 339">
            <a:extLst>
              <a:ext uri="{FF2B5EF4-FFF2-40B4-BE49-F238E27FC236}">
                <a16:creationId xmlns:a16="http://schemas.microsoft.com/office/drawing/2014/main" id="{C42FAF07-93CB-47CB-B789-29A9FFDB60F9}"/>
              </a:ext>
            </a:extLst>
          </p:cNvPr>
          <p:cNvSpPr txBox="1"/>
          <p:nvPr/>
        </p:nvSpPr>
        <p:spPr>
          <a:xfrm>
            <a:off x="688691" y="1428821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 TICKETS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4969D453-2E8F-4F83-A1D4-90AD94F0DC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6" t="20629" r="5648" b="22203"/>
          <a:stretch/>
        </p:blipFill>
        <p:spPr>
          <a:xfrm>
            <a:off x="997118" y="2648924"/>
            <a:ext cx="10732128" cy="21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45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D34D7-03D2-45C1-AFCD-88853B71D0C0}"/>
              </a:ext>
            </a:extLst>
          </p:cNvPr>
          <p:cNvSpPr/>
          <p:nvPr/>
        </p:nvSpPr>
        <p:spPr>
          <a:xfrm>
            <a:off x="688691" y="3877481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CERTIFICATIONS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08938C00-5FEF-4CF9-81D2-E58D9179961F}"/>
              </a:ext>
            </a:extLst>
          </p:cNvPr>
          <p:cNvSpPr/>
          <p:nvPr/>
        </p:nvSpPr>
        <p:spPr>
          <a:xfrm>
            <a:off x="2271386" y="3333363"/>
            <a:ext cx="1077455" cy="1624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1D1FD70-102B-4B54-873C-081D401208A0}"/>
              </a:ext>
            </a:extLst>
          </p:cNvPr>
          <p:cNvSpPr/>
          <p:nvPr/>
        </p:nvSpPr>
        <p:spPr>
          <a:xfrm rot="19268446">
            <a:off x="4299217" y="2998749"/>
            <a:ext cx="968735" cy="146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32F8260B-0532-457A-9D92-7553CC795482}"/>
              </a:ext>
            </a:extLst>
          </p:cNvPr>
          <p:cNvSpPr/>
          <p:nvPr/>
        </p:nvSpPr>
        <p:spPr>
          <a:xfrm>
            <a:off x="4454706" y="3387923"/>
            <a:ext cx="837274" cy="126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2C1E63F7-0A0F-43D3-BC2C-A47E1D8A80DD}"/>
              </a:ext>
            </a:extLst>
          </p:cNvPr>
          <p:cNvSpPr/>
          <p:nvPr/>
        </p:nvSpPr>
        <p:spPr>
          <a:xfrm rot="1618258">
            <a:off x="4394760" y="3715077"/>
            <a:ext cx="836316" cy="126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F38068C-CD3F-4382-97D3-079F276EF217}"/>
              </a:ext>
            </a:extLst>
          </p:cNvPr>
          <p:cNvSpPr txBox="1"/>
          <p:nvPr/>
        </p:nvSpPr>
        <p:spPr>
          <a:xfrm>
            <a:off x="4812918" y="4352345"/>
            <a:ext cx="1727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Certif_level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BDA9015-91C8-411B-A029-E46681134314}"/>
              </a:ext>
            </a:extLst>
          </p:cNvPr>
          <p:cNvSpPr txBox="1"/>
          <p:nvPr/>
        </p:nvSpPr>
        <p:spPr>
          <a:xfrm>
            <a:off x="6942674" y="4362886"/>
            <a:ext cx="1763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Certification_score_Numerical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95E41E4-D8E5-417B-AD36-00812841D4E1}"/>
              </a:ext>
            </a:extLst>
          </p:cNvPr>
          <p:cNvSpPr txBox="1"/>
          <p:nvPr/>
        </p:nvSpPr>
        <p:spPr>
          <a:xfrm>
            <a:off x="8970777" y="4325378"/>
            <a:ext cx="1554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Avg_certification_Scores</a:t>
            </a:r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8" name="TextBox 339">
            <a:extLst>
              <a:ext uri="{FF2B5EF4-FFF2-40B4-BE49-F238E27FC236}">
                <a16:creationId xmlns:a16="http://schemas.microsoft.com/office/drawing/2014/main" id="{C42FAF07-93CB-47CB-B789-29A9FFDB60F9}"/>
              </a:ext>
            </a:extLst>
          </p:cNvPr>
          <p:cNvSpPr txBox="1"/>
          <p:nvPr/>
        </p:nvSpPr>
        <p:spPr>
          <a:xfrm>
            <a:off x="688691" y="1428821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CERTIFICATIONS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179F60C-58D2-4E77-838F-E44C8AA0EE3E}"/>
              </a:ext>
            </a:extLst>
          </p:cNvPr>
          <p:cNvSpPr txBox="1"/>
          <p:nvPr/>
        </p:nvSpPr>
        <p:spPr>
          <a:xfrm>
            <a:off x="3572975" y="3785148"/>
            <a:ext cx="109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</a:p>
        </p:txBody>
      </p:sp>
      <p:pic>
        <p:nvPicPr>
          <p:cNvPr id="1026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ED94808E-0FD1-48EF-84D8-E02B63489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70" y="2489821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2C7441AF-D24C-4DE0-8C79-8263B9358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70" y="3090318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CC57EA2D-DEBB-455B-B8C2-5CBC370E2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162" y="3684548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6214067F-2E6D-4F14-9829-5246B5131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398" y="3089036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D9A67EC-0D9B-426B-B980-D005008E1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956" y="2890219"/>
            <a:ext cx="718645" cy="71864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F29C3B8-F829-4C04-A65E-6496914209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928" y="2673455"/>
            <a:ext cx="457196" cy="457196"/>
          </a:xfrm>
          <a:prstGeom prst="rect">
            <a:avLst/>
          </a:prstGeom>
        </p:spPr>
      </p:pic>
      <p:sp>
        <p:nvSpPr>
          <p:cNvPr id="33" name="Flèche : droite 32">
            <a:extLst>
              <a:ext uri="{FF2B5EF4-FFF2-40B4-BE49-F238E27FC236}">
                <a16:creationId xmlns:a16="http://schemas.microsoft.com/office/drawing/2014/main" id="{A5C298A2-7490-46A5-9F7B-FF983982F65B}"/>
              </a:ext>
            </a:extLst>
          </p:cNvPr>
          <p:cNvSpPr/>
          <p:nvPr/>
        </p:nvSpPr>
        <p:spPr>
          <a:xfrm>
            <a:off x="7699265" y="3356680"/>
            <a:ext cx="922851" cy="13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030964E-FB58-4E2C-AC6B-CAF83FAEE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924" y="2880364"/>
            <a:ext cx="802562" cy="80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A0298897-4CC1-4556-AA91-0AB7ABC35820}"/>
              </a:ext>
            </a:extLst>
          </p:cNvPr>
          <p:cNvSpPr/>
          <p:nvPr/>
        </p:nvSpPr>
        <p:spPr>
          <a:xfrm>
            <a:off x="9791828" y="3340742"/>
            <a:ext cx="949618" cy="1432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20D9B10-6A20-4501-98E3-5858492CD035}"/>
              </a:ext>
            </a:extLst>
          </p:cNvPr>
          <p:cNvSpPr txBox="1"/>
          <p:nvPr/>
        </p:nvSpPr>
        <p:spPr>
          <a:xfrm>
            <a:off x="10557532" y="4338993"/>
            <a:ext cx="1763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Final_certification_Scores</a:t>
            </a:r>
            <a:endParaRPr lang="fr-FR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34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14857112-90C8-4013-8D0A-074C13462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814" y="3012948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lèche : droite 34">
            <a:extLst>
              <a:ext uri="{FF2B5EF4-FFF2-40B4-BE49-F238E27FC236}">
                <a16:creationId xmlns:a16="http://schemas.microsoft.com/office/drawing/2014/main" id="{EB6E144A-0E59-4CA5-A871-89B164EE70B1}"/>
              </a:ext>
            </a:extLst>
          </p:cNvPr>
          <p:cNvSpPr/>
          <p:nvPr/>
        </p:nvSpPr>
        <p:spPr>
          <a:xfrm rot="19268446">
            <a:off x="5949911" y="3007928"/>
            <a:ext cx="968735" cy="146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lèche : droite 35">
            <a:extLst>
              <a:ext uri="{FF2B5EF4-FFF2-40B4-BE49-F238E27FC236}">
                <a16:creationId xmlns:a16="http://schemas.microsoft.com/office/drawing/2014/main" id="{4FA46C5F-2419-483B-AC7D-77B55AB49A9B}"/>
              </a:ext>
            </a:extLst>
          </p:cNvPr>
          <p:cNvSpPr/>
          <p:nvPr/>
        </p:nvSpPr>
        <p:spPr>
          <a:xfrm>
            <a:off x="6105400" y="3397102"/>
            <a:ext cx="837274" cy="126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C8D17C47-2B1A-458E-8F21-92407D999B60}"/>
              </a:ext>
            </a:extLst>
          </p:cNvPr>
          <p:cNvSpPr/>
          <p:nvPr/>
        </p:nvSpPr>
        <p:spPr>
          <a:xfrm rot="1618258">
            <a:off x="6045454" y="3724256"/>
            <a:ext cx="836316" cy="126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9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F60A6E96-E390-48D8-ABC4-D8290DE16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353" y="2482288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Column, data table, excel, table icon - Download on Iconfinder">
            <a:extLst>
              <a:ext uri="{FF2B5EF4-FFF2-40B4-BE49-F238E27FC236}">
                <a16:creationId xmlns:a16="http://schemas.microsoft.com/office/drawing/2014/main" id="{4FD499AB-C1AA-4FE7-83D1-801E73AE7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007" y="3698163"/>
            <a:ext cx="640830" cy="64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CE18AD6-A340-4E95-8ED7-912F5A357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79" y="2100236"/>
            <a:ext cx="375217" cy="37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281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28" name="TextBox 339">
            <a:extLst>
              <a:ext uri="{FF2B5EF4-FFF2-40B4-BE49-F238E27FC236}">
                <a16:creationId xmlns:a16="http://schemas.microsoft.com/office/drawing/2014/main" id="{C42FAF07-93CB-47CB-B789-29A9FFDB60F9}"/>
              </a:ext>
            </a:extLst>
          </p:cNvPr>
          <p:cNvSpPr txBox="1"/>
          <p:nvPr/>
        </p:nvSpPr>
        <p:spPr>
          <a:xfrm>
            <a:off x="688691" y="1428821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CERTIFICATIONS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Image 9" descr="Une image contenant texte&#10;&#10;Description générée automatiquement">
            <a:extLst>
              <a:ext uri="{FF2B5EF4-FFF2-40B4-BE49-F238E27FC236}">
                <a16:creationId xmlns:a16="http://schemas.microsoft.com/office/drawing/2014/main" id="{1A522DCD-01D4-4BDC-840F-16D1806EE5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6" t="22225" r="5648" b="22617"/>
          <a:stretch/>
        </p:blipFill>
        <p:spPr>
          <a:xfrm>
            <a:off x="735444" y="2665912"/>
            <a:ext cx="10721111" cy="193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21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E37C5FF-07EE-4915-9486-88AB71894F4C}"/>
              </a:ext>
            </a:extLst>
          </p:cNvPr>
          <p:cNvSpPr/>
          <p:nvPr/>
        </p:nvSpPr>
        <p:spPr>
          <a:xfrm>
            <a:off x="1105719" y="2136111"/>
            <a:ext cx="10660295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Categorical Features </a:t>
            </a:r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selected were converted to </a:t>
            </a:r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numerical.</a:t>
            </a:r>
            <a:b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</a:br>
            <a:endParaRPr lang="en-US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Scale of the selected features final scores  calculated is an interval of 0..100.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Processed data and had one customer per line as an output.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5" name="TextBox 339">
            <a:extLst>
              <a:ext uri="{FF2B5EF4-FFF2-40B4-BE49-F238E27FC236}">
                <a16:creationId xmlns:a16="http://schemas.microsoft.com/office/drawing/2014/main" id="{0772034E-BAED-4283-B586-5A0A7610B449}"/>
              </a:ext>
            </a:extLst>
          </p:cNvPr>
          <p:cNvSpPr txBox="1"/>
          <p:nvPr/>
        </p:nvSpPr>
        <p:spPr>
          <a:xfrm>
            <a:off x="704667" y="1292166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SUM UP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793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9929E06-4AB9-4598-A963-82CCC18A3FF2}"/>
              </a:ext>
            </a:extLst>
          </p:cNvPr>
          <p:cNvSpPr txBox="1"/>
          <p:nvPr/>
        </p:nvSpPr>
        <p:spPr>
          <a:xfrm>
            <a:off x="593154" y="4841786"/>
            <a:ext cx="195117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solidFill>
                  <a:srgbClr val="24292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USAGE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58B9C9-A63C-4AE4-8EB4-544F3A70C2F7}"/>
              </a:ext>
            </a:extLst>
          </p:cNvPr>
          <p:cNvCxnSpPr/>
          <p:nvPr/>
        </p:nvCxnSpPr>
        <p:spPr>
          <a:xfrm>
            <a:off x="1329338" y="5277685"/>
            <a:ext cx="47880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0754C1-4097-4CDA-B3CB-7304331CBBB9}"/>
              </a:ext>
            </a:extLst>
          </p:cNvPr>
          <p:cNvSpPr txBox="1"/>
          <p:nvPr/>
        </p:nvSpPr>
        <p:spPr>
          <a:xfrm>
            <a:off x="3285517" y="4841786"/>
            <a:ext cx="255095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NET PROMOTER SCORE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30765C-622F-4015-90C6-297DE00BBDB5}"/>
              </a:ext>
            </a:extLst>
          </p:cNvPr>
          <p:cNvCxnSpPr/>
          <p:nvPr/>
        </p:nvCxnSpPr>
        <p:spPr>
          <a:xfrm>
            <a:off x="4321589" y="5277686"/>
            <a:ext cx="47880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4005B0B-E5FC-472B-962B-C2258039F3B2}"/>
              </a:ext>
            </a:extLst>
          </p:cNvPr>
          <p:cNvSpPr txBox="1"/>
          <p:nvPr/>
        </p:nvSpPr>
        <p:spPr>
          <a:xfrm>
            <a:off x="6579368" y="4841787"/>
            <a:ext cx="19899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SUPPORT TICKETS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81AB32-AC63-443B-8ADA-AAB7C9723936}"/>
              </a:ext>
            </a:extLst>
          </p:cNvPr>
          <p:cNvCxnSpPr/>
          <p:nvPr/>
        </p:nvCxnSpPr>
        <p:spPr>
          <a:xfrm>
            <a:off x="7334945" y="5277686"/>
            <a:ext cx="47880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B6FBDF-4663-4A5D-A2B3-B90DCEBBA233}"/>
              </a:ext>
            </a:extLst>
          </p:cNvPr>
          <p:cNvSpPr txBox="1"/>
          <p:nvPr/>
        </p:nvSpPr>
        <p:spPr>
          <a:xfrm>
            <a:off x="9751674" y="4841787"/>
            <a:ext cx="16720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CERTIFICATION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8F561C8-B2FA-4D2D-9122-39870DF5465F}"/>
              </a:ext>
            </a:extLst>
          </p:cNvPr>
          <p:cNvCxnSpPr/>
          <p:nvPr/>
        </p:nvCxnSpPr>
        <p:spPr>
          <a:xfrm>
            <a:off x="10348300" y="5277686"/>
            <a:ext cx="47880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6D12FB3-2E0E-4392-B30A-8FABD55972D2}"/>
              </a:ext>
            </a:extLst>
          </p:cNvPr>
          <p:cNvGrpSpPr/>
          <p:nvPr/>
        </p:nvGrpSpPr>
        <p:grpSpPr>
          <a:xfrm>
            <a:off x="0" y="1977300"/>
            <a:ext cx="12204700" cy="2456593"/>
            <a:chOff x="-12700" y="2162907"/>
            <a:chExt cx="12204700" cy="251460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D62790E-5C31-4474-BE12-F50234A0C7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04" t="29655" r="104" b="39408"/>
            <a:stretch/>
          </p:blipFill>
          <p:spPr>
            <a:xfrm>
              <a:off x="-12700" y="2162908"/>
              <a:ext cx="12192000" cy="2514601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EFB1F-87BB-40C6-9BC7-E1CE0AC0AC1B}"/>
                </a:ext>
              </a:extLst>
            </p:cNvPr>
            <p:cNvSpPr/>
            <p:nvPr/>
          </p:nvSpPr>
          <p:spPr>
            <a:xfrm>
              <a:off x="0" y="2162907"/>
              <a:ext cx="12192000" cy="2514601"/>
            </a:xfrm>
            <a:prstGeom prst="rect">
              <a:avLst/>
            </a:prstGeom>
            <a:gradFill>
              <a:gsLst>
                <a:gs pos="1000">
                  <a:srgbClr val="7CEFD8">
                    <a:alpha val="79000"/>
                  </a:srgbClr>
                </a:gs>
                <a:gs pos="61000">
                  <a:srgbClr val="6672E4">
                    <a:alpha val="84000"/>
                  </a:srgbClr>
                </a:gs>
                <a:gs pos="98000">
                  <a:srgbClr val="882BE5">
                    <a:alpha val="66000"/>
                  </a:srgbClr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CFBA714-94A9-4CEA-9D73-2E90A898B450}"/>
                </a:ext>
              </a:extLst>
            </p:cNvPr>
            <p:cNvSpPr/>
            <p:nvPr/>
          </p:nvSpPr>
          <p:spPr>
            <a:xfrm>
              <a:off x="852825" y="2685689"/>
              <a:ext cx="1431828" cy="1431827"/>
            </a:xfrm>
            <a:prstGeom prst="ellipse">
              <a:avLst/>
            </a:prstGeom>
            <a:solidFill>
              <a:schemeClr val="bg1">
                <a:alpha val="19000"/>
              </a:schemeClr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EB48CA9-382A-48A4-B5F2-BBE91C08FD62}"/>
                </a:ext>
              </a:extLst>
            </p:cNvPr>
            <p:cNvSpPr/>
            <p:nvPr/>
          </p:nvSpPr>
          <p:spPr>
            <a:xfrm>
              <a:off x="2163386" y="3332209"/>
              <a:ext cx="239688" cy="239688"/>
            </a:xfrm>
            <a:prstGeom prst="ellipse">
              <a:avLst/>
            </a:prstGeom>
            <a:solidFill>
              <a:srgbClr val="8335E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20BBE89-8E4D-448A-8F53-F45437DD24BB}"/>
                </a:ext>
              </a:extLst>
            </p:cNvPr>
            <p:cNvSpPr/>
            <p:nvPr/>
          </p:nvSpPr>
          <p:spPr>
            <a:xfrm>
              <a:off x="2207994" y="3372524"/>
              <a:ext cx="150473" cy="150473"/>
            </a:xfrm>
            <a:prstGeom prst="ellipse">
              <a:avLst/>
            </a:prstGeom>
            <a:solidFill>
              <a:srgbClr val="833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02C732-8960-4820-B185-F087E030DAAA}"/>
                </a:ext>
              </a:extLst>
            </p:cNvPr>
            <p:cNvSpPr txBox="1"/>
            <p:nvPr/>
          </p:nvSpPr>
          <p:spPr>
            <a:xfrm>
              <a:off x="1222491" y="3189004"/>
              <a:ext cx="69249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30%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B02FFA3-53E3-4FFD-922C-CCB9EFEA5C8A}"/>
                </a:ext>
              </a:extLst>
            </p:cNvPr>
            <p:cNvSpPr/>
            <p:nvPr/>
          </p:nvSpPr>
          <p:spPr>
            <a:xfrm>
              <a:off x="3839026" y="2719313"/>
              <a:ext cx="1431828" cy="1431826"/>
            </a:xfrm>
            <a:prstGeom prst="ellipse">
              <a:avLst/>
            </a:prstGeom>
            <a:solidFill>
              <a:schemeClr val="bg1">
                <a:alpha val="19000"/>
              </a:schemeClr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DD030F3-5250-4104-9D3A-3BDB421469D0}"/>
                </a:ext>
              </a:extLst>
            </p:cNvPr>
            <p:cNvSpPr/>
            <p:nvPr/>
          </p:nvSpPr>
          <p:spPr>
            <a:xfrm>
              <a:off x="5182723" y="3328057"/>
              <a:ext cx="150473" cy="150473"/>
            </a:xfrm>
            <a:prstGeom prst="ellipse">
              <a:avLst/>
            </a:prstGeom>
            <a:solidFill>
              <a:srgbClr val="833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CC8C601-FB40-4573-87B3-B1126A610542}"/>
                </a:ext>
              </a:extLst>
            </p:cNvPr>
            <p:cNvSpPr txBox="1"/>
            <p:nvPr/>
          </p:nvSpPr>
          <p:spPr>
            <a:xfrm>
              <a:off x="4214742" y="3189005"/>
              <a:ext cx="69249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30%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AA6EBCD-B27A-4FC4-87A8-ED6638C5545A}"/>
                </a:ext>
              </a:extLst>
            </p:cNvPr>
            <p:cNvSpPr/>
            <p:nvPr/>
          </p:nvSpPr>
          <p:spPr>
            <a:xfrm>
              <a:off x="6798890" y="2719313"/>
              <a:ext cx="1431828" cy="1431826"/>
            </a:xfrm>
            <a:prstGeom prst="ellipse">
              <a:avLst/>
            </a:prstGeom>
            <a:solidFill>
              <a:schemeClr val="bg1">
                <a:alpha val="19000"/>
              </a:schemeClr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63F2913C-4436-40AC-9048-54405BD23C0C}"/>
                </a:ext>
              </a:extLst>
            </p:cNvPr>
            <p:cNvSpPr/>
            <p:nvPr/>
          </p:nvSpPr>
          <p:spPr>
            <a:xfrm>
              <a:off x="6798890" y="2719313"/>
              <a:ext cx="1431827" cy="1431826"/>
            </a:xfrm>
            <a:prstGeom prst="arc">
              <a:avLst>
                <a:gd name="adj1" fmla="val 16200000"/>
                <a:gd name="adj2" fmla="val 21539146"/>
              </a:avLst>
            </a:prstGeom>
            <a:ln w="38100">
              <a:gradFill>
                <a:gsLst>
                  <a:gs pos="0">
                    <a:srgbClr val="7BEBD8"/>
                  </a:gs>
                  <a:gs pos="8000">
                    <a:srgbClr val="6B8DE1"/>
                  </a:gs>
                  <a:gs pos="100000">
                    <a:srgbClr val="8335E5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9703755-0B67-41E7-B72A-5A3A54730479}"/>
                </a:ext>
              </a:extLst>
            </p:cNvPr>
            <p:cNvSpPr/>
            <p:nvPr/>
          </p:nvSpPr>
          <p:spPr>
            <a:xfrm>
              <a:off x="8110117" y="3281759"/>
              <a:ext cx="239688" cy="239688"/>
            </a:xfrm>
            <a:prstGeom prst="ellipse">
              <a:avLst/>
            </a:prstGeom>
            <a:solidFill>
              <a:srgbClr val="8335E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668F955-7C8C-4C69-AA19-CD562C2DFDCC}"/>
                </a:ext>
              </a:extLst>
            </p:cNvPr>
            <p:cNvSpPr/>
            <p:nvPr/>
          </p:nvSpPr>
          <p:spPr>
            <a:xfrm>
              <a:off x="8154725" y="3317490"/>
              <a:ext cx="150473" cy="150473"/>
            </a:xfrm>
            <a:prstGeom prst="ellipse">
              <a:avLst/>
            </a:prstGeom>
            <a:solidFill>
              <a:srgbClr val="833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436978-7B84-4F27-8A32-574050B29AD0}"/>
                </a:ext>
              </a:extLst>
            </p:cNvPr>
            <p:cNvSpPr txBox="1"/>
            <p:nvPr/>
          </p:nvSpPr>
          <p:spPr>
            <a:xfrm>
              <a:off x="7228098" y="3189005"/>
              <a:ext cx="69249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30%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5E89B9B-4C47-402B-9C75-47765E1F7593}"/>
                </a:ext>
              </a:extLst>
            </p:cNvPr>
            <p:cNvGrpSpPr/>
            <p:nvPr/>
          </p:nvGrpSpPr>
          <p:grpSpPr>
            <a:xfrm>
              <a:off x="9871788" y="2706779"/>
              <a:ext cx="1431828" cy="1456895"/>
              <a:chOff x="7168469" y="2677815"/>
              <a:chExt cx="1431828" cy="1456895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2C4BAC1-CFE0-4BB6-AB1E-3D97B9D3C37C}"/>
                  </a:ext>
                </a:extLst>
              </p:cNvPr>
              <p:cNvGrpSpPr/>
              <p:nvPr/>
            </p:nvGrpSpPr>
            <p:grpSpPr>
              <a:xfrm>
                <a:off x="7168469" y="2677815"/>
                <a:ext cx="1431828" cy="1456895"/>
                <a:chOff x="7168469" y="2677815"/>
                <a:chExt cx="1431828" cy="1456895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52EBF013-87F7-4305-9CC9-737BE16F0D9F}"/>
                    </a:ext>
                  </a:extLst>
                </p:cNvPr>
                <p:cNvSpPr/>
                <p:nvPr/>
              </p:nvSpPr>
              <p:spPr>
                <a:xfrm>
                  <a:off x="7168469" y="2702884"/>
                  <a:ext cx="1431828" cy="1431826"/>
                </a:xfrm>
                <a:prstGeom prst="ellipse">
                  <a:avLst/>
                </a:prstGeom>
                <a:solidFill>
                  <a:schemeClr val="bg1">
                    <a:alpha val="19000"/>
                  </a:schemeClr>
                </a:solidFill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Arc 53">
                  <a:extLst>
                    <a:ext uri="{FF2B5EF4-FFF2-40B4-BE49-F238E27FC236}">
                      <a16:creationId xmlns:a16="http://schemas.microsoft.com/office/drawing/2014/main" id="{2CC348C5-CD52-4041-A9DC-8F47C9D04352}"/>
                    </a:ext>
                  </a:extLst>
                </p:cNvPr>
                <p:cNvSpPr/>
                <p:nvPr/>
              </p:nvSpPr>
              <p:spPr>
                <a:xfrm>
                  <a:off x="7168469" y="2702884"/>
                  <a:ext cx="1431827" cy="1431826"/>
                </a:xfrm>
                <a:prstGeom prst="arc">
                  <a:avLst>
                    <a:gd name="adj1" fmla="val 16200000"/>
                    <a:gd name="adj2" fmla="val 17724961"/>
                  </a:avLst>
                </a:prstGeom>
                <a:ln w="38100">
                  <a:gradFill>
                    <a:gsLst>
                      <a:gs pos="0">
                        <a:srgbClr val="7BEBD8"/>
                      </a:gs>
                      <a:gs pos="8000">
                        <a:srgbClr val="6B8DE1"/>
                      </a:gs>
                      <a:gs pos="100000">
                        <a:srgbClr val="8335E5"/>
                      </a:gs>
                    </a:gsLst>
                    <a:lin ang="540000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083CA45F-7535-4D5F-A010-B7B38ED57BC7}"/>
                    </a:ext>
                  </a:extLst>
                </p:cNvPr>
                <p:cNvSpPr/>
                <p:nvPr/>
              </p:nvSpPr>
              <p:spPr>
                <a:xfrm>
                  <a:off x="8095353" y="2677815"/>
                  <a:ext cx="239688" cy="239687"/>
                </a:xfrm>
                <a:prstGeom prst="ellipse">
                  <a:avLst/>
                </a:prstGeom>
                <a:solidFill>
                  <a:srgbClr val="8335E5">
                    <a:alpha val="3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43FCBFAE-6E88-440A-ACEC-41E289885112}"/>
                    </a:ext>
                  </a:extLst>
                </p:cNvPr>
                <p:cNvSpPr/>
                <p:nvPr/>
              </p:nvSpPr>
              <p:spPr>
                <a:xfrm>
                  <a:off x="8139961" y="2722422"/>
                  <a:ext cx="150473" cy="150473"/>
                </a:xfrm>
                <a:prstGeom prst="ellipse">
                  <a:avLst/>
                </a:prstGeom>
                <a:solidFill>
                  <a:srgbClr val="8335E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8F4B3FC-E555-4F37-BC12-4940EF773A7E}"/>
                  </a:ext>
                </a:extLst>
              </p:cNvPr>
              <p:cNvSpPr txBox="1"/>
              <p:nvPr/>
            </p:nvSpPr>
            <p:spPr>
              <a:xfrm>
                <a:off x="7526112" y="3160041"/>
                <a:ext cx="71654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chemeClr val="bg1"/>
                    </a:solidFill>
                    <a:latin typeface="+mj-lt"/>
                  </a:rPr>
                  <a:t>10%</a:t>
                </a:r>
              </a:p>
            </p:txBody>
          </p:sp>
        </p:grp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CAE87D92-1F07-49DE-BFD7-F74BD728BD31}"/>
                </a:ext>
              </a:extLst>
            </p:cNvPr>
            <p:cNvSpPr/>
            <p:nvPr/>
          </p:nvSpPr>
          <p:spPr>
            <a:xfrm>
              <a:off x="3843489" y="2720981"/>
              <a:ext cx="1431827" cy="1431826"/>
            </a:xfrm>
            <a:prstGeom prst="arc">
              <a:avLst>
                <a:gd name="adj1" fmla="val 16200000"/>
                <a:gd name="adj2" fmla="val 21502028"/>
              </a:avLst>
            </a:prstGeom>
            <a:ln w="38100">
              <a:gradFill>
                <a:gsLst>
                  <a:gs pos="0">
                    <a:srgbClr val="7BEBD8"/>
                  </a:gs>
                  <a:gs pos="8000">
                    <a:srgbClr val="6B8DE1"/>
                  </a:gs>
                  <a:gs pos="100000">
                    <a:srgbClr val="8335E5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45B3FF71-3684-4143-BA68-D4583307C956}"/>
                </a:ext>
              </a:extLst>
            </p:cNvPr>
            <p:cNvSpPr/>
            <p:nvPr/>
          </p:nvSpPr>
          <p:spPr>
            <a:xfrm>
              <a:off x="852827" y="2687381"/>
              <a:ext cx="1431827" cy="1431826"/>
            </a:xfrm>
            <a:prstGeom prst="arc">
              <a:avLst>
                <a:gd name="adj1" fmla="val 16200000"/>
                <a:gd name="adj2" fmla="val 65610"/>
              </a:avLst>
            </a:prstGeom>
            <a:ln w="38100">
              <a:gradFill>
                <a:gsLst>
                  <a:gs pos="0">
                    <a:srgbClr val="7BEBD8"/>
                  </a:gs>
                  <a:gs pos="8000">
                    <a:srgbClr val="6B8DE1"/>
                  </a:gs>
                  <a:gs pos="100000">
                    <a:srgbClr val="8335E5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9" name="Oval 15">
            <a:extLst>
              <a:ext uri="{FF2B5EF4-FFF2-40B4-BE49-F238E27FC236}">
                <a16:creationId xmlns:a16="http://schemas.microsoft.com/office/drawing/2014/main" id="{696C9556-EAD3-4345-97A8-C2EFCFD72365}"/>
              </a:ext>
            </a:extLst>
          </p:cNvPr>
          <p:cNvSpPr/>
          <p:nvPr/>
        </p:nvSpPr>
        <p:spPr>
          <a:xfrm>
            <a:off x="5167485" y="2737435"/>
            <a:ext cx="239688" cy="239688"/>
          </a:xfrm>
          <a:prstGeom prst="ellipse">
            <a:avLst/>
          </a:prstGeom>
          <a:solidFill>
            <a:srgbClr val="8335E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339">
            <a:extLst>
              <a:ext uri="{FF2B5EF4-FFF2-40B4-BE49-F238E27FC236}">
                <a16:creationId xmlns:a16="http://schemas.microsoft.com/office/drawing/2014/main" id="{EB7E4074-5B89-45CD-ABC9-8D92382CBAB3}"/>
              </a:ext>
            </a:extLst>
          </p:cNvPr>
          <p:cNvSpPr txBox="1"/>
          <p:nvPr/>
        </p:nvSpPr>
        <p:spPr>
          <a:xfrm>
            <a:off x="704667" y="1292166"/>
            <a:ext cx="31653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CALCULATION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Straight Connector 3">
            <a:extLst>
              <a:ext uri="{FF2B5EF4-FFF2-40B4-BE49-F238E27FC236}">
                <a16:creationId xmlns:a16="http://schemas.microsoft.com/office/drawing/2014/main" id="{0F38FFC4-E0EF-4846-8715-9E8099F9705F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">
            <a:extLst>
              <a:ext uri="{FF2B5EF4-FFF2-40B4-BE49-F238E27FC236}">
                <a16:creationId xmlns:a16="http://schemas.microsoft.com/office/drawing/2014/main" id="{98C195BC-0E62-47E5-BA80-677AAA17108D}"/>
              </a:ext>
            </a:extLst>
          </p:cNvPr>
          <p:cNvSpPr txBox="1"/>
          <p:nvPr/>
        </p:nvSpPr>
        <p:spPr>
          <a:xfrm>
            <a:off x="914400" y="247556"/>
            <a:ext cx="71184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QUALITY &amp;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1685356D-CECF-45F1-936A-95C0ACD84DF3}"/>
                  </a:ext>
                </a:extLst>
              </p:cNvPr>
              <p:cNvSpPr txBox="1"/>
              <p:nvPr/>
            </p:nvSpPr>
            <p:spPr>
              <a:xfrm>
                <a:off x="2544329" y="5584861"/>
                <a:ext cx="6593594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𝑪𝑯𝑺</m:t>
                      </m:r>
                      <m:r>
                        <a:rPr lang="fr-FR" sz="1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FR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fr-FR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𝑭𝒊𝒏𝒂𝒍</m:t>
                          </m:r>
                          <m:r>
                            <a:rPr lang="fr-FR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r>
                            <a:rPr lang="fr-FR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𝒔𝒄𝒐𝒓𝒆𝒔</m:t>
                          </m:r>
                          <m:r>
                            <a:rPr lang="fr-FR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∗</m:t>
                          </m:r>
                          <m:r>
                            <a:rPr lang="fr-FR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𝑷𝒆𝒓𝒄𝒆𝒏𝒕𝒂𝒈𝒆𝒔</m:t>
                          </m:r>
                          <m:r>
                            <a:rPr lang="fr-FR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 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1685356D-CECF-45F1-936A-95C0ACD84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329" y="5584861"/>
                <a:ext cx="6593594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769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92884" y="247556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FINDINGS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B8757686-73C0-4DAF-AE82-18B8660E1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057" y="1719263"/>
            <a:ext cx="6273248" cy="375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34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92884" y="247556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FINDINGS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08F6BE6-8977-4EB6-B8FA-4BAA23FBB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84" y="1232442"/>
            <a:ext cx="9784355" cy="519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24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92884" y="247556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FINDINGS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0F3480-1521-4BA2-ACD4-CDCCE8E9C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84" y="1232442"/>
            <a:ext cx="9877898" cy="540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97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92884" y="247556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FINDINGS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F31160A-3C3C-47F0-9B51-3D76B867A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84" y="1190708"/>
            <a:ext cx="9827490" cy="541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27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92884" y="247556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FINDINGS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C63005-39A3-4A56-A879-C218129CB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036" y="1041246"/>
            <a:ext cx="8243921" cy="556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29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92883" y="247556"/>
            <a:ext cx="545421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ALTERNATIVE SOLUTIONS</a:t>
            </a:r>
          </a:p>
          <a:p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071C373-4050-414F-94EB-4B69C0A2A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020" y="1592183"/>
            <a:ext cx="9051634" cy="452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8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3">
            <a:extLst>
              <a:ext uri="{FF2B5EF4-FFF2-40B4-BE49-F238E27FC236}">
                <a16:creationId xmlns:a16="http://schemas.microsoft.com/office/drawing/2014/main" id="{96E67BBA-B3CB-471C-9125-D17F332AAE96}"/>
              </a:ext>
            </a:extLst>
          </p:cNvPr>
          <p:cNvCxnSpPr>
            <a:cxnSpLocks/>
          </p:cNvCxnSpPr>
          <p:nvPr/>
        </p:nvCxnSpPr>
        <p:spPr>
          <a:xfrm flipV="1">
            <a:off x="688691" y="739999"/>
            <a:ext cx="7471461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648D7A49-7356-4C26-813A-E72CF5433AF1}"/>
              </a:ext>
            </a:extLst>
          </p:cNvPr>
          <p:cNvSpPr txBox="1"/>
          <p:nvPr/>
        </p:nvSpPr>
        <p:spPr>
          <a:xfrm>
            <a:off x="992884" y="247556"/>
            <a:ext cx="7167268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LIMITS &amp; FURTHER AMELIORATIONS</a:t>
            </a:r>
            <a:endParaRPr lang="en-US" sz="32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2747B9-0048-43AA-A452-323945DC7F14}"/>
              </a:ext>
            </a:extLst>
          </p:cNvPr>
          <p:cNvSpPr txBox="1"/>
          <p:nvPr/>
        </p:nvSpPr>
        <p:spPr>
          <a:xfrm>
            <a:off x="579783" y="2220603"/>
            <a:ext cx="11032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Each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unique 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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Adapt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the formula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based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on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that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	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Eg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: if a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did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not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take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any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certification  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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feature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does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not have to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be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included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in the score.</a:t>
            </a:r>
          </a:p>
          <a:p>
            <a:pPr lvl="1"/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Exclude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Final_support_tickets_Scores</a:t>
            </a:r>
            <a:r>
              <a:rPr lang="fr-FR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from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the formula and replace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it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with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NB_tickets</a:t>
            </a:r>
            <a:r>
              <a:rPr lang="fr-FR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to have a more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accurate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score.</a:t>
            </a:r>
          </a:p>
          <a:p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	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Eg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: if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customer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satisfied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with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the application and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he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not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struggling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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will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not open support tickets.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To base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calculation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upon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the 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NB_tickets</a:t>
            </a:r>
            <a:r>
              <a:rPr lang="fr-FR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opened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by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customer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instead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of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his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satisfaction_score</a:t>
            </a:r>
            <a:r>
              <a:rPr lang="fr-FR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.</a:t>
            </a:r>
          </a:p>
          <a:p>
            <a:endParaRPr lang="fr-FR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Add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new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features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to the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calculation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of CHS:</a:t>
            </a:r>
          </a:p>
          <a:p>
            <a:pPr algn="l" fontAlgn="base"/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	</a:t>
            </a:r>
            <a:r>
              <a:rPr lang="fr-FR" sz="1600" b="1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Eg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: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add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external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data to </a:t>
            </a:r>
            <a:r>
              <a:rPr lang="fr-FR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see</a:t>
            </a:r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  <a:sym typeface="Wingdings" panose="05000000000000000000" pitchFamily="2" charset="2"/>
              </a:rPr>
              <a:t> if the </a:t>
            </a:r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C-level execs are users of your solution? </a:t>
            </a:r>
            <a:endParaRPr lang="fr-FR" sz="1600" b="1" dirty="0">
              <a:latin typeface="+mj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64912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733192" y="4331033"/>
            <a:ext cx="484570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  <a:endParaRPr lang="en-US" sz="54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2076</TotalTime>
  <Words>1397</Words>
  <Application>Microsoft Office PowerPoint</Application>
  <PresentationFormat>Grand écran</PresentationFormat>
  <Paragraphs>176</Paragraphs>
  <Slides>25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4" baseType="lpstr">
      <vt:lpstr>-apple-system</vt:lpstr>
      <vt:lpstr>Arial</vt:lpstr>
      <vt:lpstr>Calibri</vt:lpstr>
      <vt:lpstr>Calibri Light</vt:lpstr>
      <vt:lpstr>Cambria Math</vt:lpstr>
      <vt:lpstr>Courier New</vt:lpstr>
      <vt:lpstr>Segoe UI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 pramadita</dc:creator>
  <cp:lastModifiedBy>Chaima Jelassi</cp:lastModifiedBy>
  <cp:revision>86</cp:revision>
  <dcterms:created xsi:type="dcterms:W3CDTF">2018-01-29T07:36:00Z</dcterms:created>
  <dcterms:modified xsi:type="dcterms:W3CDTF">2021-04-22T16:45:14Z</dcterms:modified>
</cp:coreProperties>
</file>